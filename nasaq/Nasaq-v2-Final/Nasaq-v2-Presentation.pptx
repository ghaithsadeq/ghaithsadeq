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media/image-8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افتتاح" id="{ee09549b-96dc-a22b-60e8-3888603c3c1b}">
          <p14:sldIdLst>
            <p14:sldId id="256"/>
          </p14:sldIdLst>
        </p14:section>
        <p14:section name="لماذا مرحلة ثانية" id="{f2fb3bc4-5dc0-0a53-18ce-dbc6310e2df6}">
          <p14:sldIdLst>
            <p14:sldId id="257"/>
          </p14:sldIdLst>
        </p14:section>
        <p14:section name="الاستيراد" id="{7ffaa14c-6eca-baee-b257-d05a0e147451}">
          <p14:sldIdLst>
            <p14:sldId id="258"/>
            <p14:sldId id="259"/>
            <p14:sldId id="260"/>
          </p14:sldIdLst>
        </p14:section>
        <p14:section name="المزايا" id="{b13d5bbc-f109-2b93-be2a-833cf790979d}">
          <p14:sldIdLst>
            <p14:sldId id="261"/>
            <p14:sldId id="262"/>
          </p14:sldIdLst>
        </p14:section>
        <p14:section name="الاختبار والقياس" id="{c44fa960-b82d-e700-ed6b-33e551c0348f}">
          <p14:sldIdLst>
            <p14:sldId id="263"/>
            <p14:sldId id="264"/>
            <p14:sldId id="265"/>
          </p14:sldIdLst>
        </p14:section>
        <p14:section name="الخطوة الثالثة" id="{eabe43f1-6731-7563-e11b-4a01104c9f6e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في المرحلة الأولى عرضنا نَسَق: برنامج يولّد جدول المدرسة بلا تعارض. اليوم نعرض المرحلة الثانية، وسؤالها الوحيد: هل يعمل على مدرسةٍ حقيقية؟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بعد المرحلة الأولى واجهتنا أربعة أسئلة من المحكّمين، وكلّ ميزة في هذا الإصدار جواب لسؤال منها.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الصيغة أبسط ما يمكن أن تُخرجه مدرسة من Excel: سطر لكلّ صفّ ومادة. وقبل الاعتماد يمرّ الملفّ على سبعة فحوص.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لاحظوا الفرق: لا نقول للمستخدم «الملفّ خاطئ»، بل نقول له رقم السطر والسبب بالعربية.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استوردنا مدرسة مختلفة الحجم تماماً، فولّد نَسَق جدولها بصفر تعارض، وأعاد كلّ الاختبارات ناجحة.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في كلّ مدرسة حصص لا تتحرّك. الآن تُستثنى من البحث داخل الخوارزمية نفسها، لا تُصحّح بعده.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نقرة واحدة تُخرج جدول الصفّ للأسرة. وبقرارٍ منّا لا تُظهر الاسم الكامل أبداً.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البرنامج يحمل اختباراته داخله، وتُشغَّل على جهاز المحكّم في تلك اللحظة، وتُعاد بياناته كما كانت.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سؤال منطقي: كيف نضمن أنّ الاختبارات ليست مزيّفة لتنجح؟ عدّة اختبارات تفحص المحرّك بطريقة مستقلّة عنه.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قياسات تُحسب في كلّ تشغيل وتُصدَّر في ورقة قياس. ونقول حدودها بوضوح.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خطوتنا الثالثة ليست ميزة، بل تجربة محكومة بموافقة إدارة مدرسة.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ونقول بوضوح ما لم نجرّبه. محكّم واحد يكتشف مبالغة يُسقِط المشروع كلّه.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شكراً لكم. وندعوكم الآن: استوردوا بيانات أيّ مدرسة، أو اضغطوا زرّ الاختبارات بأنفسكم.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2700" b="1" dirty="0">
                <a:solidFill>
                  <a:schemeClr val="tx1"/>
                </a:solidFill>
              </a:defRPr>
            </a:lvl1pPr>
          </a:lstStyle>
          <a:p>
            <a:pPr algn="r" indent="0" marL="0">
              <a:buNone/>
            </a:pPr>
            <a:endParaRPr lang="en-US" sz="2700" dirty="0"/>
          </a:p>
        </p:txBody>
      </p:sp>
      <p:sp>
        <p:nvSpPr>
          <p:cNvPr id="4" name="Text 0"/>
          <p:cNvSpPr/>
          <p:nvPr/>
        </p:nvSpPr>
        <p:spPr>
          <a:xfrm>
            <a:off x="365760" y="4773168"/>
            <a:ext cx="4389120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نَسَق v2 · غيث صادق كيوان · GEN CODE TEAM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4114800" y="45720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3" name="cell"/>
          <p:cNvSpPr/>
          <p:nvPr/>
        </p:nvSpPr>
        <p:spPr>
          <a:xfrm>
            <a:off x="4261104" y="603504"/>
            <a:ext cx="170688" cy="170688"/>
          </a:xfrm>
          <a:prstGeom prst="roundRect">
            <a:avLst>
              <a:gd name="adj" fmla="val 20000"/>
            </a:avLst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  <p:txBody>
          <a:bodyPr/>
          <a:p/>
        </p:txBody>
      </p:sp>
      <p:sp>
        <p:nvSpPr>
          <p:cNvPr id="4" name="cell"/>
          <p:cNvSpPr/>
          <p:nvPr/>
        </p:nvSpPr>
        <p:spPr>
          <a:xfrm>
            <a:off x="4486656" y="603504"/>
            <a:ext cx="170688" cy="170688"/>
          </a:xfrm>
          <a:prstGeom prst="roundRect">
            <a:avLst>
              <a:gd name="adj" fmla="val 20000"/>
            </a:avLst>
          </a:prstGeom>
          <a:solidFill>
            <a:srgbClr val="0A1020">
              <a:alpha val="45000"/>
            </a:srgbClr>
          </a:solidFill>
          <a:ln w="12700">
            <a:solidFill>
              <a:srgbClr val="0A1020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cell"/>
          <p:cNvSpPr/>
          <p:nvPr/>
        </p:nvSpPr>
        <p:spPr>
          <a:xfrm>
            <a:off x="4712208" y="603504"/>
            <a:ext cx="170688" cy="170688"/>
          </a:xfrm>
          <a:prstGeom prst="roundRect">
            <a:avLst>
              <a:gd name="adj" fmla="val 20000"/>
            </a:avLst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  <p:txBody>
          <a:bodyPr/>
          <a:p/>
        </p:txBody>
      </p:sp>
      <p:sp>
        <p:nvSpPr>
          <p:cNvPr id="6" name="cell"/>
          <p:cNvSpPr/>
          <p:nvPr/>
        </p:nvSpPr>
        <p:spPr>
          <a:xfrm>
            <a:off x="4261104" y="829056"/>
            <a:ext cx="170688" cy="170688"/>
          </a:xfrm>
          <a:prstGeom prst="roundRect">
            <a:avLst>
              <a:gd name="adj" fmla="val 20000"/>
            </a:avLst>
          </a:prstGeom>
          <a:solidFill>
            <a:srgbClr val="0A1020">
              <a:alpha val="45000"/>
            </a:srgbClr>
          </a:solidFill>
          <a:ln w="12700">
            <a:solidFill>
              <a:srgbClr val="0A1020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cell"/>
          <p:cNvSpPr/>
          <p:nvPr/>
        </p:nvSpPr>
        <p:spPr>
          <a:xfrm>
            <a:off x="4486656" y="829056"/>
            <a:ext cx="170688" cy="170688"/>
          </a:xfrm>
          <a:prstGeom prst="roundRect">
            <a:avLst>
              <a:gd name="adj" fmla="val 20000"/>
            </a:avLst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  <p:txBody>
          <a:bodyPr/>
          <a:p/>
        </p:txBody>
      </p:sp>
      <p:sp>
        <p:nvSpPr>
          <p:cNvPr id="8" name="cell"/>
          <p:cNvSpPr/>
          <p:nvPr/>
        </p:nvSpPr>
        <p:spPr>
          <a:xfrm>
            <a:off x="4712208" y="829056"/>
            <a:ext cx="170688" cy="170688"/>
          </a:xfrm>
          <a:prstGeom prst="roundRect">
            <a:avLst>
              <a:gd name="adj" fmla="val 20000"/>
            </a:avLst>
          </a:prstGeom>
          <a:solidFill>
            <a:srgbClr val="0A1020">
              <a:alpha val="45000"/>
            </a:srgbClr>
          </a:solidFill>
          <a:ln w="12700">
            <a:solidFill>
              <a:srgbClr val="0A1020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cell"/>
          <p:cNvSpPr/>
          <p:nvPr/>
        </p:nvSpPr>
        <p:spPr>
          <a:xfrm>
            <a:off x="4261104" y="1054608"/>
            <a:ext cx="170688" cy="170688"/>
          </a:xfrm>
          <a:prstGeom prst="roundRect">
            <a:avLst>
              <a:gd name="adj" fmla="val 20000"/>
            </a:avLst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  <p:txBody>
          <a:bodyPr/>
          <a:p/>
        </p:txBody>
      </p:sp>
      <p:sp>
        <p:nvSpPr>
          <p:cNvPr id="10" name="cell"/>
          <p:cNvSpPr/>
          <p:nvPr/>
        </p:nvSpPr>
        <p:spPr>
          <a:xfrm>
            <a:off x="4486656" y="1054608"/>
            <a:ext cx="170688" cy="170688"/>
          </a:xfrm>
          <a:prstGeom prst="roundRect">
            <a:avLst>
              <a:gd name="adj" fmla="val 20000"/>
            </a:avLst>
          </a:prstGeom>
          <a:solidFill>
            <a:srgbClr val="0A1020">
              <a:alpha val="45000"/>
            </a:srgbClr>
          </a:solidFill>
          <a:ln w="12700">
            <a:solidFill>
              <a:srgbClr val="0A1020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cell"/>
          <p:cNvSpPr/>
          <p:nvPr/>
        </p:nvSpPr>
        <p:spPr>
          <a:xfrm>
            <a:off x="4712208" y="1054608"/>
            <a:ext cx="170688" cy="170688"/>
          </a:xfrm>
          <a:prstGeom prst="roundRect">
            <a:avLst>
              <a:gd name="adj" fmla="val 20000"/>
            </a:avLst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914400" y="14630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ar-AE" altLang="en-US" sz="6200" b="1" dirty="0">
                <a:solidFill>
                  <a:srgbClr val="EAF0FA"/>
                </a:solidFill>
              </a:rPr>
              <a:t>نَسَق </a:t>
            </a:r>
            <a:pPr algn="ctr" indent="0" marL="0">
              <a:buNone/>
            </a:pPr>
            <a:r>
              <a:rPr lang="ar-AE" altLang="en-US" sz="3000" b="1" dirty="0">
                <a:solidFill>
                  <a:srgbClr val="1A1203"/>
                </a:solidFill>
                <a:highlight>
                  <a:srgbClr val="FBBF24"/>
                </a:highlight>
              </a:rPr>
              <a:t> v2 </a:t>
            </a:r>
            <a:endParaRPr lang="ar-AE" sz="62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2423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AE" altLang="en-US" sz="2100" b="1" dirty="0">
                <a:solidFill>
                  <a:srgbClr val="DCE6F5"/>
                </a:solidFill>
              </a:rPr>
              <a:t>المرحلة الثانية — من نموذجٍ يعمل… إلى أداةٍ تُستخدَم</a:t>
            </a:r>
            <a:endParaRPr lang="ar-AE" sz="2100" dirty="0"/>
          </a:p>
        </p:txBody>
      </p:sp>
      <p:sp>
        <p:nvSpPr>
          <p:cNvPr id="14" name="chip"/>
          <p:cNvSpPr/>
          <p:nvPr/>
        </p:nvSpPr>
        <p:spPr>
          <a:xfrm>
            <a:off x="6446520" y="3108960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446520" y="310896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200" b="1" dirty="0">
                <a:solidFill>
                  <a:srgbClr val="EAF0FA"/>
                </a:solidFill>
              </a:rPr>
              <a:t>يستورد</a:t>
            </a:r>
            <a:endParaRPr lang="ar-AE" sz="1200" dirty="0"/>
          </a:p>
        </p:txBody>
      </p:sp>
      <p:sp>
        <p:nvSpPr>
          <p:cNvPr id="16" name="chip"/>
          <p:cNvSpPr/>
          <p:nvPr/>
        </p:nvSpPr>
        <p:spPr>
          <a:xfrm>
            <a:off x="4846320" y="3108960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4846320" y="310896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200" b="1" dirty="0">
                <a:solidFill>
                  <a:srgbClr val="EAF0FA"/>
                </a:solidFill>
              </a:rPr>
              <a:t>يثبّت</a:t>
            </a:r>
            <a:endParaRPr lang="ar-AE" sz="1200" dirty="0"/>
          </a:p>
        </p:txBody>
      </p:sp>
      <p:sp>
        <p:nvSpPr>
          <p:cNvPr id="18" name="chip"/>
          <p:cNvSpPr/>
          <p:nvPr/>
        </p:nvSpPr>
        <p:spPr>
          <a:xfrm>
            <a:off x="3246120" y="3108960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3246120" y="310896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200" b="1" dirty="0">
                <a:solidFill>
                  <a:srgbClr val="EAF0FA"/>
                </a:solidFill>
              </a:rPr>
              <a:t>يشارك الأسرة</a:t>
            </a:r>
            <a:endParaRPr lang="ar-AE" sz="1200" dirty="0"/>
          </a:p>
        </p:txBody>
      </p:sp>
      <p:sp>
        <p:nvSpPr>
          <p:cNvPr id="20" name="chip"/>
          <p:cNvSpPr/>
          <p:nvPr/>
        </p:nvSpPr>
        <p:spPr>
          <a:xfrm>
            <a:off x="1645920" y="3108960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1645920" y="310896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200" b="1" dirty="0">
                <a:solidFill>
                  <a:srgbClr val="EAF0FA"/>
                </a:solidFill>
              </a:rPr>
              <a:t>يختبر نفسه</a:t>
            </a:r>
            <a:endParaRPr lang="ar-AE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AE" altLang="en-US" sz="1300" dirty="0">
                <a:solidFill>
                  <a:srgbClr val="93A3BF"/>
                </a:solidFill>
              </a:rPr>
              <a:t>إعداد وتقديم: غيث صادق كيوان · GEN CODE TEAM · مدرسة السدرة الخاصة — كلباء</a:t>
            </a:r>
            <a:endParaRPr lang="ar-AE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01 · لماذا مرحلة ثانية؟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chemeClr val="tx1"/>
                </a:solidFill>
              </a:rPr>
              <a:t>السؤال الذي واجهنا بعد المرحلة الأولى</a:t>
            </a:r>
            <a:endParaRPr lang="en-US" sz="2700" dirty="0"/>
          </a:p>
        </p:txBody>
      </p:sp>
      <p:sp>
        <p:nvSpPr>
          <p:cNvPr id="5" name="q0"/>
          <p:cNvSpPr/>
          <p:nvPr/>
        </p:nvSpPr>
        <p:spPr>
          <a:xfrm>
            <a:off x="6675120" y="132588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6803136" y="1463040"/>
            <a:ext cx="1664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AE" altLang="en-US" sz="1400" b="1" dirty="0">
                <a:solidFill>
                  <a:srgbClr val="DCE6F5"/>
                </a:solidFill>
              </a:rPr>
              <a:t>«هل يعمل على مدرستي ببياناتها؟»</a:t>
            </a:r>
            <a:endParaRPr lang="ar-AE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803136" y="260604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250" b="1" dirty="0">
                <a:solidFill>
                  <a:srgbClr val="34D399"/>
                </a:solidFill>
              </a:rPr>
              <a:t>استيراد من Excel مع فحص كلّ سطر</a:t>
            </a:r>
            <a:endParaRPr lang="ar-AE" sz="1250" dirty="0"/>
          </a:p>
        </p:txBody>
      </p:sp>
      <p:sp>
        <p:nvSpPr>
          <p:cNvPr id="8" name="q1"/>
          <p:cNvSpPr/>
          <p:nvPr/>
        </p:nvSpPr>
        <p:spPr>
          <a:xfrm>
            <a:off x="4599432" y="132588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4727448" y="1463040"/>
            <a:ext cx="1664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AE" altLang="en-US" sz="1400" b="1" dirty="0">
                <a:solidFill>
                  <a:srgbClr val="DCE6F5"/>
                </a:solidFill>
              </a:rPr>
              <a:t>«عندنا حصص لا تتحرّك»</a:t>
            </a:r>
            <a:endParaRPr lang="ar-AE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727448" y="260604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250" b="1" dirty="0">
                <a:solidFill>
                  <a:srgbClr val="34D399"/>
                </a:solidFill>
              </a:rPr>
              <a:t>تثبيت الحصص</a:t>
            </a:r>
            <a:endParaRPr lang="ar-AE" sz="1250" dirty="0"/>
          </a:p>
        </p:txBody>
      </p:sp>
      <p:sp>
        <p:nvSpPr>
          <p:cNvPr id="11" name="q2"/>
          <p:cNvSpPr/>
          <p:nvPr/>
        </p:nvSpPr>
        <p:spPr>
          <a:xfrm>
            <a:off x="2523744" y="132588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2651760" y="1463040"/>
            <a:ext cx="1664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AE" altLang="en-US" sz="1400" b="1" dirty="0">
                <a:solidFill>
                  <a:srgbClr val="DCE6F5"/>
                </a:solidFill>
              </a:rPr>
              <a:t>«كيف يصل الجدول للأسرة؟»</a:t>
            </a:r>
            <a:endParaRPr lang="ar-AE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651760" y="260604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250" b="1" dirty="0">
                <a:solidFill>
                  <a:srgbClr val="34D399"/>
                </a:solidFill>
              </a:rPr>
              <a:t>صفحة الأسرة بنقرة</a:t>
            </a:r>
            <a:endParaRPr lang="ar-AE" sz="1250" dirty="0"/>
          </a:p>
        </p:txBody>
      </p:sp>
      <p:sp>
        <p:nvSpPr>
          <p:cNvPr id="14" name="q3"/>
          <p:cNvSpPr/>
          <p:nvPr/>
        </p:nvSpPr>
        <p:spPr>
          <a:xfrm>
            <a:off x="448056" y="132588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2A230B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15" name="hot"/>
          <p:cNvSpPr/>
          <p:nvPr/>
        </p:nvSpPr>
        <p:spPr>
          <a:xfrm>
            <a:off x="448056" y="132588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2A230B"/>
          </a:solidFill>
          <a:ln w="15875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76072" y="1463040"/>
            <a:ext cx="1664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AE" altLang="en-US" sz="1400" b="1" dirty="0">
                <a:solidFill>
                  <a:srgbClr val="DCE6F5"/>
                </a:solidFill>
              </a:rPr>
              <a:t>«كيف نصدّق أرقامكم؟»</a:t>
            </a:r>
            <a:endParaRPr lang="ar-AE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76072" y="260604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250" b="1" dirty="0">
                <a:solidFill>
                  <a:srgbClr val="FBBF24"/>
                </a:solidFill>
              </a:rPr>
              <a:t>٣٥ اختباراً آلياً أمامكم</a:t>
            </a:r>
            <a:endParaRPr lang="ar-AE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ar-AE" altLang="en-US" sz="1400" dirty="0">
                <a:solidFill>
                  <a:srgbClr val="B8C4D9"/>
                </a:solidFill>
              </a:rPr>
              <a:t>المرحلة الأولى أثبتت أنّ الفكرة ممكنة. المرحلة الثانية جعلتها قابلة للاستخدام وقابلة للتحقّق.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02 · استيراد البيانات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chemeClr val="tx1"/>
                </a:solidFill>
              </a:rPr>
              <a:t>من Excel إلى جدول كامل… في دقيقة</a:t>
            </a:r>
            <a:endParaRPr lang="en-US" sz="2700" dirty="0"/>
          </a:p>
        </p:txBody>
      </p:sp>
      <p:sp>
        <p:nvSpPr>
          <p:cNvPr id="5" name="import ok frame"/>
          <p:cNvSpPr/>
          <p:nvPr/>
        </p:nvSpPr>
        <p:spPr>
          <a:xfrm>
            <a:off x="4581144" y="1335024"/>
            <a:ext cx="4142232" cy="2362010"/>
          </a:xfrm>
          <a:prstGeom prst="roundRect">
            <a:avLst>
              <a:gd name="adj" fmla="val 3097"/>
            </a:avLst>
          </a:prstGeom>
          <a:solidFill>
            <a:srgbClr val="1F2937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pic>
        <p:nvPicPr>
          <p:cNvPr id="6" name="import ok" descr="import 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371600"/>
            <a:ext cx="4069080" cy="2288858"/>
          </a:xfrm>
          <a:prstGeom prst="rect">
            <a:avLst/>
          </a:prstGeom>
        </p:spPr>
      </p:pic>
      <p:sp>
        <p:nvSpPr>
          <p:cNvPr id="7" name="cols"/>
          <p:cNvSpPr/>
          <p:nvPr/>
        </p:nvSpPr>
        <p:spPr>
          <a:xfrm>
            <a:off x="457200" y="1371600"/>
            <a:ext cx="3931920" cy="868680"/>
          </a:xfrm>
          <a:prstGeom prst="roundRect">
            <a:avLst>
              <a:gd name="adj" fmla="val 12632"/>
            </a:avLst>
          </a:prstGeom>
          <a:solidFill>
            <a:srgbClr val="0B1220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 txBox="1"/>
          <p:nvPr/>
        </p:nvSpPr>
        <p:spPr>
          <a:xfrm>
            <a:off x="603504" y="1426464"/>
            <a:ext cx="363931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AE" altLang="en-US" sz="1300" dirty="0">
                <a:solidFill>
                  <a:srgbClr val="93A3BF"/>
                </a:solidFill>
              </a:rPr>
              <a:t>الأعمدة: </a:t>
            </a:r>
            <a:pPr algn="r" indent="0" marL="0">
              <a:buNone/>
            </a:pPr>
            <a:r>
              <a:rPr lang="ar-AE" altLang="en-US" sz="1300" b="1" dirty="0">
                <a:solidFill>
                  <a:srgbClr val="B5F5EA"/>
                </a:solidFill>
              </a:rPr>
              <a:t>الصف · المادة · الحصص · المعلم · القاعة</a:t>
            </a:r>
            <a:pPr algn="r" indent="0" marL="0">
              <a:buNone/>
            </a:pPr>
            <a:endParaRPr lang="ar-AE" sz="1300" dirty="0"/>
          </a:p>
          <a:p>
            <a:pPr rtl="1" algn="r" indent="0" marL="0">
              <a:buNone/>
            </a:pPr>
            <a:r>
              <a:rPr lang="ar-AE" altLang="en-US" sz="1100" dirty="0">
                <a:solidFill>
                  <a:srgbClr val="93A3BF"/>
                </a:solidFill>
              </a:rPr>
              <a:t>القاعة اختيارية · مجموع حصص كلّ صفّ = ٣٠</a:t>
            </a:r>
            <a:endParaRPr lang="ar-AE" sz="1300" dirty="0"/>
          </a:p>
        </p:txBody>
      </p:sp>
      <p:sp>
        <p:nvSpPr>
          <p:cNvPr id="9" name="icon0"/>
          <p:cNvSpPr/>
          <p:nvPr/>
        </p:nvSpPr>
        <p:spPr>
          <a:xfrm>
            <a:off x="3968496" y="246888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3A2E0B"/>
          </a:solidFill>
          <a:ln w="9525">
            <a:solidFill>
              <a:srgbClr val="6B5414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3968496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243230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50" dirty="0">
                <a:solidFill>
                  <a:srgbClr val="EAF0FA"/>
                </a:solidFill>
              </a:rPr>
              <a:t>الصق من Excel مباشرة أو ارفع ملف CSV</a:t>
            </a:r>
            <a:endParaRPr lang="ar-AE" sz="1350" dirty="0"/>
          </a:p>
        </p:txBody>
      </p:sp>
      <p:sp>
        <p:nvSpPr>
          <p:cNvPr id="12" name="icon1"/>
          <p:cNvSpPr/>
          <p:nvPr/>
        </p:nvSpPr>
        <p:spPr>
          <a:xfrm>
            <a:off x="3968496" y="31272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3A2E0B"/>
          </a:solidFill>
          <a:ln w="9525">
            <a:solidFill>
              <a:srgbClr val="6B5414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 txBox="1"/>
          <p:nvPr/>
        </p:nvSpPr>
        <p:spPr>
          <a:xfrm>
            <a:off x="3968496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309067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50" dirty="0">
                <a:solidFill>
                  <a:srgbClr val="EAF0FA"/>
                </a:solidFill>
              </a:rPr>
              <a:t>نَسَق يكتشف الفاصل ويستخرج الصفوف والمواد والمعلّمين</a:t>
            </a:r>
            <a:endParaRPr lang="ar-AE" sz="1350" dirty="0"/>
          </a:p>
        </p:txBody>
      </p:sp>
      <p:sp>
        <p:nvSpPr>
          <p:cNvPr id="15" name="icon2"/>
          <p:cNvSpPr/>
          <p:nvPr/>
        </p:nvSpPr>
        <p:spPr>
          <a:xfrm>
            <a:off x="3968496" y="378561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3A2E0B"/>
          </a:solidFill>
          <a:ln w="9525">
            <a:solidFill>
              <a:srgbClr val="6B5414"/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 txBox="1"/>
          <p:nvPr/>
        </p:nvSpPr>
        <p:spPr>
          <a:xfrm>
            <a:off x="3968496" y="3785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3749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50" dirty="0">
                <a:solidFill>
                  <a:srgbClr val="EAF0FA"/>
                </a:solidFill>
              </a:rPr>
              <a:t>٧ فحوص قبل الاعتماد — كلّ خطأ بسطره وسببه</a:t>
            </a:r>
            <a:endParaRPr lang="ar-AE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· الفحص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chemeClr val="tx1"/>
                </a:solidFill>
              </a:rPr>
              <a:t>لا يقول «خطأ»… بل يقول أين ولماذا</a:t>
            </a:r>
            <a:endParaRPr lang="en-US" sz="2700" dirty="0"/>
          </a:p>
        </p:txBody>
      </p:sp>
      <p:sp>
        <p:nvSpPr>
          <p:cNvPr id="5" name="import errors frame"/>
          <p:cNvSpPr/>
          <p:nvPr/>
        </p:nvSpPr>
        <p:spPr>
          <a:xfrm>
            <a:off x="420624" y="1335024"/>
            <a:ext cx="4142232" cy="2362010"/>
          </a:xfrm>
          <a:prstGeom prst="roundRect">
            <a:avLst>
              <a:gd name="adj" fmla="val 3097"/>
            </a:avLst>
          </a:prstGeom>
          <a:solidFill>
            <a:srgbClr val="1F2937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pic>
        <p:nvPicPr>
          <p:cNvPr id="6" name="import errors" descr="import erro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069080" cy="2288858"/>
          </a:xfrm>
          <a:prstGeom prst="rect">
            <a:avLst/>
          </a:prstGeom>
        </p:spPr>
      </p:pic>
      <p:sp>
        <p:nvSpPr>
          <p:cNvPr id="7" name="err0"/>
          <p:cNvSpPr/>
          <p:nvPr/>
        </p:nvSpPr>
        <p:spPr>
          <a:xfrm>
            <a:off x="4754880" y="1417320"/>
            <a:ext cx="3931920" cy="603504"/>
          </a:xfrm>
          <a:prstGeom prst="roundRect">
            <a:avLst>
              <a:gd name="adj" fmla="val 18182"/>
            </a:avLst>
          </a:prstGeom>
          <a:solidFill>
            <a:srgbClr val="2A1219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8" name="errbox0"/>
          <p:cNvSpPr/>
          <p:nvPr/>
        </p:nvSpPr>
        <p:spPr>
          <a:xfrm>
            <a:off x="4754880" y="1417320"/>
            <a:ext cx="3931920" cy="603504"/>
          </a:xfrm>
          <a:prstGeom prst="roundRect">
            <a:avLst>
              <a:gd name="adj" fmla="val 15152"/>
            </a:avLst>
          </a:prstGeom>
          <a:solidFill>
            <a:srgbClr val="2A1219"/>
          </a:solidFill>
          <a:ln w="9525">
            <a:solidFill>
              <a:srgbClr val="7F2A3A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4864608" y="1417320"/>
            <a:ext cx="3712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dirty="0">
                <a:solidFill>
                  <a:srgbClr val="FECDD3"/>
                </a:solidFill>
              </a:rPr>
              <a:t>«الصفّ 7-أ: مجموع الحصص 31 والمطلوب 30»</a:t>
            </a:r>
            <a:endParaRPr lang="ar-AE" sz="1200" dirty="0"/>
          </a:p>
        </p:txBody>
      </p:sp>
      <p:sp>
        <p:nvSpPr>
          <p:cNvPr id="10" name="err1"/>
          <p:cNvSpPr/>
          <p:nvPr/>
        </p:nvSpPr>
        <p:spPr>
          <a:xfrm>
            <a:off x="4754880" y="2130552"/>
            <a:ext cx="3931920" cy="603504"/>
          </a:xfrm>
          <a:prstGeom prst="roundRect">
            <a:avLst>
              <a:gd name="adj" fmla="val 18182"/>
            </a:avLst>
          </a:prstGeom>
          <a:solidFill>
            <a:srgbClr val="2A1219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11" name="errbox1"/>
          <p:cNvSpPr/>
          <p:nvPr/>
        </p:nvSpPr>
        <p:spPr>
          <a:xfrm>
            <a:off x="4754880" y="2130552"/>
            <a:ext cx="3931920" cy="603504"/>
          </a:xfrm>
          <a:prstGeom prst="roundRect">
            <a:avLst>
              <a:gd name="adj" fmla="val 15152"/>
            </a:avLst>
          </a:prstGeom>
          <a:solidFill>
            <a:srgbClr val="2A1219"/>
          </a:solidFill>
          <a:ln w="9525">
            <a:solidFill>
              <a:srgbClr val="7F2A3A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 txBox="1"/>
          <p:nvPr/>
        </p:nvSpPr>
        <p:spPr>
          <a:xfrm>
            <a:off x="4864608" y="2130552"/>
            <a:ext cx="3712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dirty="0">
                <a:solidFill>
                  <a:srgbClr val="FECDD3"/>
                </a:solidFill>
              </a:rPr>
              <a:t>«السطر 29: القاعة «قاعة المسرح» غير معروفة»</a:t>
            </a:r>
            <a:endParaRPr lang="ar-AE" sz="1200" dirty="0"/>
          </a:p>
        </p:txBody>
      </p:sp>
      <p:sp>
        <p:nvSpPr>
          <p:cNvPr id="13" name="err2"/>
          <p:cNvSpPr/>
          <p:nvPr/>
        </p:nvSpPr>
        <p:spPr>
          <a:xfrm>
            <a:off x="4754880" y="2843784"/>
            <a:ext cx="3931920" cy="603504"/>
          </a:xfrm>
          <a:prstGeom prst="roundRect">
            <a:avLst>
              <a:gd name="adj" fmla="val 18182"/>
            </a:avLst>
          </a:prstGeom>
          <a:solidFill>
            <a:srgbClr val="2A1219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14" name="errbox2"/>
          <p:cNvSpPr/>
          <p:nvPr/>
        </p:nvSpPr>
        <p:spPr>
          <a:xfrm>
            <a:off x="4754880" y="2843784"/>
            <a:ext cx="3931920" cy="603504"/>
          </a:xfrm>
          <a:prstGeom prst="roundRect">
            <a:avLst>
              <a:gd name="adj" fmla="val 15152"/>
            </a:avLst>
          </a:prstGeom>
          <a:solidFill>
            <a:srgbClr val="2A1219"/>
          </a:solidFill>
          <a:ln w="9525">
            <a:solidFill>
              <a:srgbClr val="7F2A3A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4864608" y="2843784"/>
            <a:ext cx="3712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dirty="0">
                <a:solidFill>
                  <a:srgbClr val="FECDD3"/>
                </a:solidFill>
              </a:rPr>
              <a:t>«أ. سالم: النصاب 34 يفوق 30 خانة — مستحيل»</a:t>
            </a:r>
            <a:endParaRPr lang="ar-AE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754880" y="36118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ar-AE" altLang="en-US" sz="1200" dirty="0">
                <a:solidFill>
                  <a:srgbClr val="93A3BF"/>
                </a:solidFill>
              </a:rPr>
              <a:t>وسبعة فحوص أخرى: أعمدة ناقصة · عدد حصص غير صالح · تكرار (صفّ + مادة) · طلب قاعة يفوق سعتها</a:t>
            </a:r>
            <a:endParaRPr lang="ar-AE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04 · الدليل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chemeClr val="tx1"/>
                </a:solidFill>
              </a:rPr>
              <a:t>مدرسة مختلفة تماماً… والمحرّك نفسه</a:t>
            </a:r>
            <a:endParaRPr lang="en-US" sz="2700" dirty="0"/>
          </a:p>
        </p:txBody>
      </p:sp>
      <p:sp>
        <p:nvSpPr>
          <p:cNvPr id="5" name="st0"/>
          <p:cNvSpPr/>
          <p:nvPr/>
        </p:nvSpPr>
        <p:spPr>
          <a:xfrm>
            <a:off x="7059168" y="1298448"/>
            <a:ext cx="1508760" cy="96012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7059168" y="1389888"/>
            <a:ext cx="150876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7059168" y="1874520"/>
            <a:ext cx="150876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200" dirty="0">
                <a:solidFill>
                  <a:srgbClr val="93A3BF"/>
                </a:solidFill>
              </a:rPr>
              <a:t>صفوف</a:t>
            </a:r>
            <a:endParaRPr lang="ar-AE" sz="1200" dirty="0"/>
          </a:p>
        </p:txBody>
      </p:sp>
      <p:sp>
        <p:nvSpPr>
          <p:cNvPr id="8" name="st1"/>
          <p:cNvSpPr/>
          <p:nvPr/>
        </p:nvSpPr>
        <p:spPr>
          <a:xfrm>
            <a:off x="5404104" y="1298448"/>
            <a:ext cx="1508760" cy="96012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5404104" y="1389888"/>
            <a:ext cx="150876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5404104" y="1874520"/>
            <a:ext cx="150876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200" dirty="0">
                <a:solidFill>
                  <a:srgbClr val="93A3BF"/>
                </a:solidFill>
              </a:rPr>
              <a:t>مواد</a:t>
            </a:r>
            <a:endParaRPr lang="ar-AE" sz="1200" dirty="0"/>
          </a:p>
        </p:txBody>
      </p:sp>
      <p:sp>
        <p:nvSpPr>
          <p:cNvPr id="11" name="st2"/>
          <p:cNvSpPr/>
          <p:nvPr/>
        </p:nvSpPr>
        <p:spPr>
          <a:xfrm>
            <a:off x="3749040" y="1298448"/>
            <a:ext cx="1508760" cy="96012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3749040" y="1389888"/>
            <a:ext cx="150876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3749040" y="1874520"/>
            <a:ext cx="150876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200" dirty="0">
                <a:solidFill>
                  <a:srgbClr val="93A3BF"/>
                </a:solidFill>
              </a:rPr>
              <a:t>معلّمين</a:t>
            </a:r>
            <a:endParaRPr lang="ar-AE" sz="1200" dirty="0"/>
          </a:p>
        </p:txBody>
      </p:sp>
      <p:sp>
        <p:nvSpPr>
          <p:cNvPr id="14" name="st3"/>
          <p:cNvSpPr/>
          <p:nvPr/>
        </p:nvSpPr>
        <p:spPr>
          <a:xfrm>
            <a:off x="2093976" y="1298448"/>
            <a:ext cx="1508760" cy="96012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2093976" y="1389888"/>
            <a:ext cx="150876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2093976" y="1874520"/>
            <a:ext cx="150876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200" dirty="0">
                <a:solidFill>
                  <a:srgbClr val="93A3BF"/>
                </a:solidFill>
              </a:rPr>
              <a:t>حصّة أسبوعياً</a:t>
            </a:r>
            <a:endParaRPr lang="ar-AE" sz="1200" dirty="0"/>
          </a:p>
        </p:txBody>
      </p:sp>
      <p:sp>
        <p:nvSpPr>
          <p:cNvPr id="17" name="st4"/>
          <p:cNvSpPr/>
          <p:nvPr/>
        </p:nvSpPr>
        <p:spPr>
          <a:xfrm>
            <a:off x="438912" y="1298448"/>
            <a:ext cx="1508760" cy="96012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438912" y="1389888"/>
            <a:ext cx="150876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00" dirty="0"/>
          </a:p>
        </p:txBody>
      </p:sp>
      <p:sp>
        <p:nvSpPr>
          <p:cNvPr id="19" name="Text 16"/>
          <p:cNvSpPr txBox="1"/>
          <p:nvPr/>
        </p:nvSpPr>
        <p:spPr>
          <a:xfrm>
            <a:off x="438912" y="1874520"/>
            <a:ext cx="150876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200" dirty="0">
                <a:solidFill>
                  <a:srgbClr val="93A3BF"/>
                </a:solidFill>
              </a:rPr>
              <a:t>تعارض صلب</a:t>
            </a:r>
            <a:endParaRPr lang="ar-AE" sz="1200" dirty="0"/>
          </a:p>
        </p:txBody>
      </p:sp>
      <p:sp>
        <p:nvSpPr>
          <p:cNvPr id="20" name="imported class frame"/>
          <p:cNvSpPr/>
          <p:nvPr/>
        </p:nvSpPr>
        <p:spPr>
          <a:xfrm>
            <a:off x="1700784" y="2432304"/>
            <a:ext cx="5742432" cy="3262122"/>
          </a:xfrm>
          <a:prstGeom prst="roundRect">
            <a:avLst>
              <a:gd name="adj" fmla="val 2242"/>
            </a:avLst>
          </a:prstGeom>
          <a:solidFill>
            <a:srgbClr val="1F2937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pic>
        <p:nvPicPr>
          <p:cNvPr id="21" name="imported class" descr="imported cla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468880"/>
            <a:ext cx="5669280" cy="318897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05 · تثبيت الحصص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chemeClr val="tx1"/>
                </a:solidFill>
              </a:rPr>
              <a:t>حصّة ثابتة؟ ثبّتها… ونَسَق يرتّب الباقي</a:t>
            </a:r>
            <a:endParaRPr lang="en-US" sz="2700" dirty="0"/>
          </a:p>
        </p:txBody>
      </p:sp>
      <p:sp>
        <p:nvSpPr>
          <p:cNvPr id="5" name="locks frame"/>
          <p:cNvSpPr/>
          <p:nvPr/>
        </p:nvSpPr>
        <p:spPr>
          <a:xfrm>
            <a:off x="420624" y="1335024"/>
            <a:ext cx="4645152" cy="2644902"/>
          </a:xfrm>
          <a:prstGeom prst="roundRect">
            <a:avLst>
              <a:gd name="adj" fmla="val 2766"/>
            </a:avLst>
          </a:prstGeom>
          <a:solidFill>
            <a:srgbClr val="1F2937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pic>
        <p:nvPicPr>
          <p:cNvPr id="6" name="locks" descr="loc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572000" cy="2571750"/>
          </a:xfrm>
          <a:prstGeom prst="rect">
            <a:avLst/>
          </a:prstGeom>
        </p:spPr>
      </p:pic>
      <p:sp>
        <p:nvSpPr>
          <p:cNvPr id="7" name="icon0"/>
          <p:cNvSpPr/>
          <p:nvPr/>
        </p:nvSpPr>
        <p:spPr>
          <a:xfrm>
            <a:off x="8266176" y="141732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3A2E0B"/>
          </a:solidFill>
          <a:ln w="9525">
            <a:solidFill>
              <a:srgbClr val="6B5414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 txBox="1"/>
          <p:nvPr/>
        </p:nvSpPr>
        <p:spPr>
          <a:xfrm>
            <a:off x="8266176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257800" y="138074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00" dirty="0">
                <a:solidFill>
                  <a:srgbClr val="EAF0FA"/>
                </a:solidFill>
              </a:rPr>
              <a:t>الطابور · حصّة النشاط · اجتماع أسبوعي</a:t>
            </a:r>
            <a:endParaRPr lang="ar-AE" sz="1300" dirty="0"/>
          </a:p>
        </p:txBody>
      </p:sp>
      <p:sp>
        <p:nvSpPr>
          <p:cNvPr id="10" name="icon1"/>
          <p:cNvSpPr/>
          <p:nvPr/>
        </p:nvSpPr>
        <p:spPr>
          <a:xfrm>
            <a:off x="8266176" y="203911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3A2E0B"/>
          </a:solidFill>
          <a:ln w="9525">
            <a:solidFill>
              <a:srgbClr val="6B5414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8266176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257800" y="200253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00" dirty="0">
                <a:solidFill>
                  <a:srgbClr val="EAF0FA"/>
                </a:solidFill>
              </a:rPr>
              <a:t>تُستثنى من حركات البحث داخل الخوارزمية</a:t>
            </a:r>
            <a:endParaRPr lang="ar-AE" sz="1300" dirty="0"/>
          </a:p>
        </p:txBody>
      </p:sp>
      <p:sp>
        <p:nvSpPr>
          <p:cNvPr id="13" name="icon2"/>
          <p:cNvSpPr/>
          <p:nvPr/>
        </p:nvSpPr>
        <p:spPr>
          <a:xfrm>
            <a:off x="8266176" y="2660904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3A2E0B"/>
          </a:solidFill>
          <a:ln w="9525">
            <a:solidFill>
              <a:srgbClr val="6B5414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 txBox="1"/>
          <p:nvPr/>
        </p:nvSpPr>
        <p:spPr>
          <a:xfrm>
            <a:off x="8266176" y="2660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257800" y="262432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00" dirty="0">
                <a:solidFill>
                  <a:srgbClr val="EAF0FA"/>
                </a:solidFill>
              </a:rPr>
              <a:t>وتُرفض محاولة تبديلها يدوياً</a:t>
            </a:r>
            <a:endParaRPr lang="ar-AE" sz="1300" dirty="0"/>
          </a:p>
        </p:txBody>
      </p:sp>
      <p:sp>
        <p:nvSpPr>
          <p:cNvPr id="16" name="icon3"/>
          <p:cNvSpPr/>
          <p:nvPr/>
        </p:nvSpPr>
        <p:spPr>
          <a:xfrm>
            <a:off x="8266176" y="328269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3A2E0B"/>
          </a:solidFill>
          <a:ln w="9525">
            <a:solidFill>
              <a:srgbClr val="6B5414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 txBox="1"/>
          <p:nvPr/>
        </p:nvSpPr>
        <p:spPr>
          <a:xfrm>
            <a:off x="8266176" y="32826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5257800" y="32461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00" dirty="0">
                <a:solidFill>
                  <a:srgbClr val="EAF0FA"/>
                </a:solidFill>
              </a:rPr>
              <a:t>وتبقى مكانها بعد إعادة التوليد من الصفر</a:t>
            </a:r>
            <a:endParaRPr lang="ar-AE" sz="1300" dirty="0"/>
          </a:p>
        </p:txBody>
      </p:sp>
      <p:sp>
        <p:nvSpPr>
          <p:cNvPr id="19" name="code"/>
          <p:cNvSpPr/>
          <p:nvPr/>
        </p:nvSpPr>
        <p:spPr>
          <a:xfrm>
            <a:off x="5257800" y="4041648"/>
            <a:ext cx="3429000" cy="457200"/>
          </a:xfrm>
          <a:prstGeom prst="roundRect">
            <a:avLst>
              <a:gd name="adj" fmla="val 24000"/>
            </a:avLst>
          </a:prstGeom>
          <a:solidFill>
            <a:srgbClr val="0B1220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 txBox="1"/>
          <p:nvPr/>
        </p:nvSpPr>
        <p:spPr>
          <a:xfrm>
            <a:off x="5367528" y="4114800"/>
            <a:ext cx="3209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5F5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(LK[c*NS+s1] || LK[c*NS+s2]) continue;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06 · صفحة الأسرة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chemeClr val="tx1"/>
                </a:solidFill>
              </a:rPr>
              <a:t>الجدول لا ينفع في جهاز المنسّق وحده</a:t>
            </a:r>
            <a:endParaRPr lang="en-US" sz="2700" dirty="0"/>
          </a:p>
        </p:txBody>
      </p:sp>
      <p:sp>
        <p:nvSpPr>
          <p:cNvPr id="5" name="family page frame"/>
          <p:cNvSpPr/>
          <p:nvPr/>
        </p:nvSpPr>
        <p:spPr>
          <a:xfrm>
            <a:off x="4581144" y="1335024"/>
            <a:ext cx="4142232" cy="2362010"/>
          </a:xfrm>
          <a:prstGeom prst="roundRect">
            <a:avLst>
              <a:gd name="adj" fmla="val 3097"/>
            </a:avLst>
          </a:prstGeom>
          <a:solidFill>
            <a:srgbClr val="1F2937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pic>
        <p:nvPicPr>
          <p:cNvPr id="6" name="family page" descr="family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371600"/>
            <a:ext cx="4069080" cy="2288858"/>
          </a:xfrm>
          <a:prstGeom prst="rect">
            <a:avLst/>
          </a:prstGeom>
        </p:spPr>
      </p:pic>
      <p:sp>
        <p:nvSpPr>
          <p:cNvPr id="7" name="icon0"/>
          <p:cNvSpPr/>
          <p:nvPr/>
        </p:nvSpPr>
        <p:spPr>
          <a:xfrm>
            <a:off x="3968496" y="141732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3A2E0B"/>
          </a:solidFill>
          <a:ln w="9525">
            <a:solidFill>
              <a:srgbClr val="6B5414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 txBox="1"/>
          <p:nvPr/>
        </p:nvSpPr>
        <p:spPr>
          <a:xfrm>
            <a:off x="3968496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138074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50" dirty="0">
                <a:solidFill>
                  <a:srgbClr val="EAF0FA"/>
                </a:solidFill>
              </a:rPr>
              <a:t>ملفّ واحد يُفتح على أيّ هاتف ويُطبع بنظافة</a:t>
            </a:r>
            <a:endParaRPr lang="ar-AE" sz="1350" dirty="0"/>
          </a:p>
        </p:txBody>
      </p:sp>
      <p:sp>
        <p:nvSpPr>
          <p:cNvPr id="10" name="icon1"/>
          <p:cNvSpPr/>
          <p:nvPr/>
        </p:nvSpPr>
        <p:spPr>
          <a:xfrm>
            <a:off x="3968496" y="207568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3A2E0B"/>
          </a:solidFill>
          <a:ln w="9525">
            <a:solidFill>
              <a:srgbClr val="6B5414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3968496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203911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50" dirty="0">
                <a:solidFill>
                  <a:srgbClr val="EAF0FA"/>
                </a:solidFill>
              </a:rPr>
              <a:t>صفّ واحد… أو كلّ الصفوف دفعة واحدة</a:t>
            </a:r>
            <a:endParaRPr lang="ar-AE" sz="1350" dirty="0"/>
          </a:p>
        </p:txBody>
      </p:sp>
      <p:sp>
        <p:nvSpPr>
          <p:cNvPr id="13" name="privacy"/>
          <p:cNvSpPr/>
          <p:nvPr/>
        </p:nvSpPr>
        <p:spPr>
          <a:xfrm>
            <a:off x="457200" y="2834640"/>
            <a:ext cx="3931920" cy="1600200"/>
          </a:xfrm>
          <a:prstGeom prst="roundRect">
            <a:avLst>
              <a:gd name="adj" fmla="val 6857"/>
            </a:avLst>
          </a:prstGeom>
          <a:solidFill>
            <a:srgbClr val="2A230B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14" name="privbox"/>
          <p:cNvSpPr/>
          <p:nvPr/>
        </p:nvSpPr>
        <p:spPr>
          <a:xfrm>
            <a:off x="457200" y="2834640"/>
            <a:ext cx="3931920" cy="1600200"/>
          </a:xfrm>
          <a:prstGeom prst="roundRect">
            <a:avLst>
              <a:gd name="adj" fmla="val 6857"/>
            </a:avLst>
          </a:prstGeom>
          <a:solidFill>
            <a:srgbClr val="2A230B"/>
          </a:solidFill>
          <a:ln w="12700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603504" y="2926080"/>
            <a:ext cx="36393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AE" altLang="en-US" sz="1400" b="1" dirty="0">
                <a:solidFill>
                  <a:srgbClr val="FBBF24"/>
                </a:solidFill>
              </a:rPr>
              <a:t>قرار خصوصية مقصود
</a:t>
            </a:r>
            <a:pPr algn="r" indent="0" marL="0">
              <a:buNone/>
            </a:pPr>
            <a:r>
              <a:rPr lang="ar-AE" altLang="en-US" sz="1250" dirty="0">
                <a:solidFill>
                  <a:srgbClr val="F3DFA6"/>
                </a:solidFill>
              </a:rPr>
              <a:t>لا تُظهر الاسم الكامل أبداً — حتى لو اخترت ذلك داخل التطبيق. الملفّ سيخرج من سيطرة المدرسة، والخصوصية التي يمكن إيقافها بالخطأ ليست خصوصية.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07 · الاختبار الذاتي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chemeClr val="tx1"/>
                </a:solidFill>
              </a:rPr>
              <a:t>لا تصدّقونا… اضغطوا الزرّ</a:t>
            </a:r>
            <a:endParaRPr lang="en-US" sz="2700" dirty="0"/>
          </a:p>
        </p:txBody>
      </p:sp>
      <p:sp>
        <p:nvSpPr>
          <p:cNvPr id="5" name="m0"/>
          <p:cNvSpPr/>
          <p:nvPr/>
        </p:nvSpPr>
        <p:spPr>
          <a:xfrm>
            <a:off x="6675120" y="1298448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6675120" y="1389888"/>
            <a:ext cx="192024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35/35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675120" y="1956816"/>
            <a:ext cx="192024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200" dirty="0">
                <a:solidFill>
                  <a:srgbClr val="93A3BF"/>
                </a:solidFill>
              </a:rPr>
              <a:t>اختبار آلي ناجح</a:t>
            </a:r>
            <a:endParaRPr lang="ar-AE" sz="1200" dirty="0"/>
          </a:p>
        </p:txBody>
      </p:sp>
      <p:sp>
        <p:nvSpPr>
          <p:cNvPr id="8" name="m1"/>
          <p:cNvSpPr/>
          <p:nvPr/>
        </p:nvSpPr>
        <p:spPr>
          <a:xfrm>
            <a:off x="4599432" y="1298448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4599432" y="1389888"/>
            <a:ext cx="192024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1.38s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4599432" y="1956816"/>
            <a:ext cx="192024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200" dirty="0">
                <a:solidFill>
                  <a:srgbClr val="93A3BF"/>
                </a:solidFill>
              </a:rPr>
              <a:t>متوسّط التوليد</a:t>
            </a:r>
            <a:endParaRPr lang="ar-AE" sz="1200" dirty="0"/>
          </a:p>
        </p:txBody>
      </p:sp>
      <p:sp>
        <p:nvSpPr>
          <p:cNvPr id="11" name="m2"/>
          <p:cNvSpPr/>
          <p:nvPr/>
        </p:nvSpPr>
        <p:spPr>
          <a:xfrm>
            <a:off x="2523744" y="1298448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2523744" y="1389888"/>
            <a:ext cx="192024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 ms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2523744" y="1956816"/>
            <a:ext cx="192024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200" dirty="0">
                <a:solidFill>
                  <a:srgbClr val="93A3BF"/>
                </a:solidFill>
              </a:rPr>
              <a:t>تغطية غياب يوم</a:t>
            </a:r>
            <a:endParaRPr lang="ar-AE" sz="1200" dirty="0"/>
          </a:p>
        </p:txBody>
      </p:sp>
      <p:sp>
        <p:nvSpPr>
          <p:cNvPr id="14" name="m3"/>
          <p:cNvSpPr/>
          <p:nvPr/>
        </p:nvSpPr>
        <p:spPr>
          <a:xfrm>
            <a:off x="448056" y="1298448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448056" y="1389888"/>
            <a:ext cx="192024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5.0:1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448056" y="1956816"/>
            <a:ext cx="192024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200" dirty="0">
                <a:solidFill>
                  <a:srgbClr val="93A3BF"/>
                </a:solidFill>
              </a:rPr>
              <a:t>أقلّ تباين ألوان</a:t>
            </a:r>
            <a:endParaRPr lang="ar-AE" sz="1200" dirty="0"/>
          </a:p>
        </p:txBody>
      </p:sp>
      <p:sp>
        <p:nvSpPr>
          <p:cNvPr id="17" name="tests list frame"/>
          <p:cNvSpPr/>
          <p:nvPr/>
        </p:nvSpPr>
        <p:spPr>
          <a:xfrm>
            <a:off x="1700784" y="2569464"/>
            <a:ext cx="5742432" cy="3262122"/>
          </a:xfrm>
          <a:prstGeom prst="roundRect">
            <a:avLst>
              <a:gd name="adj" fmla="val 2242"/>
            </a:avLst>
          </a:prstGeom>
          <a:solidFill>
            <a:srgbClr val="1F2937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pic>
        <p:nvPicPr>
          <p:cNvPr id="18" name="tests list" descr="tests l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606040"/>
            <a:ext cx="5669280" cy="318897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08 · كيف نضمن أنّ الاختبار حقيقي؟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chemeClr val="tx1"/>
                </a:solidFill>
              </a:rPr>
              <a:t>المحرّك يُفحَص بطريقة مستقلّة عنه</a:t>
            </a:r>
            <a:endParaRPr lang="en-US" sz="2700" dirty="0"/>
          </a:p>
        </p:txBody>
      </p:sp>
      <p:sp>
        <p:nvSpPr>
          <p:cNvPr id="5" name="naive"/>
          <p:cNvSpPr/>
          <p:nvPr/>
        </p:nvSpPr>
        <p:spPr>
          <a:xfrm>
            <a:off x="4617720" y="1325880"/>
            <a:ext cx="4069080" cy="1783080"/>
          </a:xfrm>
          <a:prstGeom prst="roundRect">
            <a:avLst>
              <a:gd name="adj" fmla="val 6154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754880" y="14173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rgbClr val="FB7185"/>
                </a:solidFill>
              </a:rPr>
              <a:t>الطريقة الساذجة</a:t>
            </a:r>
            <a:endParaRPr lang="ar-AE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182880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ar-AE" altLang="en-US" sz="1300" dirty="0">
                <a:solidFill>
                  <a:srgbClr val="C9D3E3"/>
                </a:solidFill>
              </a:rPr>
              <a:t>نسأل دالّة الكلفة: «كم تعارضاً؟» فتجيب: «صفر». ولو كان فيها خطأ، لأجابت «صفر» أيضاً — ولا نكتشف شيئاً.</a:t>
            </a:r>
            <a:endParaRPr lang="ar-AE" sz="1300" dirty="0"/>
          </a:p>
        </p:txBody>
      </p:sp>
      <p:sp>
        <p:nvSpPr>
          <p:cNvPr id="8" name="ours"/>
          <p:cNvSpPr/>
          <p:nvPr/>
        </p:nvSpPr>
        <p:spPr>
          <a:xfrm>
            <a:off x="457200" y="1325880"/>
            <a:ext cx="4069080" cy="1783080"/>
          </a:xfrm>
          <a:prstGeom prst="roundRect">
            <a:avLst>
              <a:gd name="adj" fmla="val 6154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594360" y="14173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rgbClr val="34D399"/>
                </a:solidFill>
              </a:rPr>
              <a:t>ما فعلناه</a:t>
            </a:r>
            <a:endParaRPr lang="ar-AE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182880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ar-AE" altLang="en-US" sz="1300" dirty="0">
                <a:solidFill>
                  <a:srgbClr val="C9D3E3"/>
                </a:solidFill>
              </a:rPr>
              <a:t>دالّة checkGrid() تُحصي التعارضات من الصفر دون لمس دالّة الكلفة، ثمّ تُقارَن النتيجتان. ولو اختلفتا، سقط الاختبار.</a:t>
            </a:r>
            <a:endParaRPr lang="ar-AE" sz="1300" dirty="0"/>
          </a:p>
        </p:txBody>
      </p:sp>
      <p:sp>
        <p:nvSpPr>
          <p:cNvPr id="11" name="code"/>
          <p:cNvSpPr/>
          <p:nvPr/>
        </p:nvSpPr>
        <p:spPr>
          <a:xfrm>
            <a:off x="457200" y="329184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0B1220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66928" y="3364992"/>
            <a:ext cx="80101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F5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cost.hard === checkGrid().clash + .room + .unav + .rep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B5F5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incremental(2 days) === full recompute   // 300 random swaps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ar-AE" altLang="en-US" sz="1300" dirty="0">
                <a:solidFill>
                  <a:srgbClr val="B8C4D9"/>
                </a:solidFill>
              </a:rPr>
              <a:t>وستّة اختبارات خصوصية تفحص كلّ معلّم في كلّ دور ومستوى، بحثاً عن أيّ اسم عائلة يتسرّب — في الشاشات والتصدير وصفحة الأسرة.</a:t>
            </a:r>
            <a:endParaRPr lang="ar-AE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09 · القياسات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chemeClr val="tx1"/>
                </a:solidFill>
              </a:rPr>
              <a:t>كلّ رقم ناتج تشغيل فعلي</a:t>
            </a:r>
            <a:endParaRPr lang="en-US" sz="2700" dirty="0"/>
          </a:p>
        </p:txBody>
      </p:sp>
      <p:graphicFrame>
        <p:nvGraphicFramePr>
          <p:cNvPr id="11" name="measur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651760"/>
                <a:gridCol w="3383280"/>
              </a:tblGrid>
              <a:tr h="38404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3A3BF"/>
                          </a:solidFill>
                        </a:rPr>
                        <a:t>القياس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A14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3A3BF"/>
                          </a:solidFill>
                        </a:rPr>
                        <a:t>القيمة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A14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3A3BF"/>
                          </a:solidFill>
                        </a:rPr>
                        <a:t>كيف قيس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A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EAF0FA"/>
                          </a:solidFill>
                        </a:rPr>
                        <a:t>زمن التوليد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EAF0FA"/>
                          </a:solidFill>
                        </a:rPr>
                        <a:t>1.38 · 1.41 · 1.34 ث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EAF0FA"/>
                          </a:solidFill>
                        </a:rPr>
                        <a:t>٣ عمليات كاملة بـ performance.now()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EAF0FA"/>
                          </a:solidFill>
                        </a:rPr>
                        <a:t>التعارضات الصلبة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EAF0FA"/>
                          </a:solidFill>
                        </a:rPr>
                        <a:t>0 في كلّ مرّة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EAF0FA"/>
                          </a:solidFill>
                        </a:rPr>
                        <a:t>فحص مستقلّ عن دالّة الكلفة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EAF0FA"/>
                          </a:solidFill>
                        </a:rPr>
                        <a:t>جودة التحسين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EAF0FA"/>
                          </a:solidFill>
                        </a:rPr>
                        <a:t>325 ← 105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EAF0FA"/>
                          </a:solidFill>
                        </a:rPr>
                        <a:t>خفض 68% من نقاط الجزاء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EAF0FA"/>
                          </a:solidFill>
                        </a:rPr>
                        <a:t>تغطية غياب يوم كامل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EAF0FA"/>
                          </a:solidFill>
                        </a:rPr>
                        <a:t>3.4 ms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EAF0FA"/>
                          </a:solidFill>
                        </a:rPr>
                        <a:t>تكليف بديل لكلّ حصص الغائب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EAF0FA"/>
                          </a:solidFill>
                        </a:rPr>
                        <a:t>إجابة «اسأل نَسَق»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EAF0FA"/>
                          </a:solidFill>
                        </a:rPr>
                        <a:t>0.4 ms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EAF0FA"/>
                          </a:solidFill>
                        </a:rPr>
                        <a:t>سؤال من الجدول الحيّ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EAF0FA"/>
                          </a:solidFill>
                        </a:rPr>
                        <a:t>تباين الألوان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EAF0FA"/>
                          </a:solidFill>
                        </a:rPr>
                        <a:t>5.02:1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EAF0FA"/>
                          </a:solidFill>
                        </a:rPr>
                        <a:t>WCAG لثمانية أزواج (المعيار 4.5)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6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ar-AE" altLang="en-US" sz="1200" dirty="0">
                <a:solidFill>
                  <a:srgbClr val="93A3BF"/>
                </a:solidFill>
              </a:rPr>
              <a:t>حدود القياس: جهاز واحد وبيانات بهذا الحجم. ستختلف على جهاز أبطأ أو مدرسة أكبر — ولذلك نعرضها كـ«قِس الآن أمامك» لا كوعدٍ ثابت.</a:t>
            </a:r>
            <a:endParaRPr lang="ar-AE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10 · الخطوة الثالثة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chemeClr val="tx1"/>
                </a:solidFill>
              </a:rPr>
              <a:t>تجربة في مدرسة حقيقية — خطّة لا إنجاز</a:t>
            </a:r>
            <a:endParaRPr lang="en-US" sz="2700" dirty="0"/>
          </a:p>
        </p:txBody>
      </p:sp>
      <p:sp>
        <p:nvSpPr>
          <p:cNvPr id="5" name="r0"/>
          <p:cNvSpPr/>
          <p:nvPr/>
        </p:nvSpPr>
        <p:spPr>
          <a:xfrm>
            <a:off x="6675120" y="1325880"/>
            <a:ext cx="1920240" cy="196596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6" name="num0"/>
          <p:cNvSpPr/>
          <p:nvPr/>
        </p:nvSpPr>
        <p:spPr>
          <a:xfrm>
            <a:off x="7424928" y="1463040"/>
            <a:ext cx="420624" cy="42062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7424928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203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784848" y="199339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500" b="1" dirty="0">
                <a:solidFill>
                  <a:srgbClr val="EAF0FA"/>
                </a:solidFill>
              </a:rPr>
              <a:t>موافقة خطّية</a:t>
            </a:r>
            <a:endParaRPr lang="ar-AE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784848" y="2395728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AE" altLang="en-US" sz="1150" dirty="0">
                <a:solidFill>
                  <a:srgbClr val="B8C4D9"/>
                </a:solidFill>
              </a:rPr>
              <a:t>عرض على الإدارة وتجربة غير مُلزِمة</a:t>
            </a:r>
            <a:endParaRPr lang="ar-AE" sz="1150" dirty="0"/>
          </a:p>
        </p:txBody>
      </p:sp>
      <p:sp>
        <p:nvSpPr>
          <p:cNvPr id="10" name="r1"/>
          <p:cNvSpPr/>
          <p:nvPr/>
        </p:nvSpPr>
        <p:spPr>
          <a:xfrm>
            <a:off x="4599432" y="1325880"/>
            <a:ext cx="1920240" cy="196596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11" name="num1"/>
          <p:cNvSpPr/>
          <p:nvPr/>
        </p:nvSpPr>
        <p:spPr>
          <a:xfrm>
            <a:off x="5349240" y="1463040"/>
            <a:ext cx="420624" cy="42062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34924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203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709160" y="199339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500" b="1" dirty="0">
                <a:solidFill>
                  <a:srgbClr val="EAF0FA"/>
                </a:solidFill>
              </a:rPr>
              <a:t>بيانات الجدول</a:t>
            </a:r>
            <a:endParaRPr lang="ar-AE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2395728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AE" altLang="en-US" sz="1150" dirty="0">
                <a:solidFill>
                  <a:srgbClr val="B8C4D9"/>
                </a:solidFill>
              </a:rPr>
              <a:t>بصيغة القالب — بلا أيّ بيانات طلبة</a:t>
            </a:r>
            <a:endParaRPr lang="ar-AE" sz="1150" dirty="0"/>
          </a:p>
        </p:txBody>
      </p:sp>
      <p:sp>
        <p:nvSpPr>
          <p:cNvPr id="15" name="r2"/>
          <p:cNvSpPr/>
          <p:nvPr/>
        </p:nvSpPr>
        <p:spPr>
          <a:xfrm>
            <a:off x="2523744" y="1325880"/>
            <a:ext cx="1920240" cy="196596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16" name="num2"/>
          <p:cNvSpPr/>
          <p:nvPr/>
        </p:nvSpPr>
        <p:spPr>
          <a:xfrm>
            <a:off x="3273552" y="1463040"/>
            <a:ext cx="420624" cy="42062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3273552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203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2633472" y="199339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500" b="1" dirty="0">
                <a:solidFill>
                  <a:srgbClr val="EAF0FA"/>
                </a:solidFill>
              </a:rPr>
              <a:t>مقارنة</a:t>
            </a:r>
            <a:endParaRPr lang="ar-AE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2633472" y="2395728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AE" altLang="en-US" sz="1150" dirty="0">
                <a:solidFill>
                  <a:srgbClr val="B8C4D9"/>
                </a:solidFill>
              </a:rPr>
              <a:t>جدولنا مقابل الجدول اليدوي أمام المنسّق</a:t>
            </a:r>
            <a:endParaRPr lang="ar-AE" sz="1150" dirty="0"/>
          </a:p>
        </p:txBody>
      </p:sp>
      <p:sp>
        <p:nvSpPr>
          <p:cNvPr id="20" name="r3"/>
          <p:cNvSpPr/>
          <p:nvPr/>
        </p:nvSpPr>
        <p:spPr>
          <a:xfrm>
            <a:off x="448056" y="1325880"/>
            <a:ext cx="1920240" cy="196596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21" name="num3"/>
          <p:cNvSpPr/>
          <p:nvPr/>
        </p:nvSpPr>
        <p:spPr>
          <a:xfrm>
            <a:off x="1197864" y="1463040"/>
            <a:ext cx="420624" cy="42062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1197864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203"/>
                </a:solidFill>
              </a:rPr>
              <a:t>4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57784" y="199339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500" b="1" dirty="0">
                <a:solidFill>
                  <a:srgbClr val="EAF0FA"/>
                </a:solidFill>
              </a:rPr>
              <a:t>قياس حقيقي</a:t>
            </a:r>
            <a:endParaRPr lang="ar-AE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57784" y="2395728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AE" altLang="en-US" sz="1150" dirty="0">
                <a:solidFill>
                  <a:srgbClr val="B8C4D9"/>
                </a:solidFill>
              </a:rPr>
              <a:t>الوقت الفعلي · عدّاد كهرباء · دقّة البديل</a:t>
            </a:r>
            <a:endParaRPr lang="ar-AE" sz="1150" dirty="0"/>
          </a:p>
        </p:txBody>
      </p:sp>
      <p:sp>
        <p:nvSpPr>
          <p:cNvPr id="25" name="ethics"/>
          <p:cNvSpPr/>
          <p:nvPr/>
        </p:nvSpPr>
        <p:spPr>
          <a:xfrm>
            <a:off x="457200" y="347472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2A230B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26" name="ethicsbox"/>
          <p:cNvSpPr/>
          <p:nvPr/>
        </p:nvSpPr>
        <p:spPr>
          <a:xfrm>
            <a:off x="457200" y="347472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2A230B"/>
          </a:solidFill>
          <a:ln w="12700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 txBox="1"/>
          <p:nvPr/>
        </p:nvSpPr>
        <p:spPr>
          <a:xfrm>
            <a:off x="621792" y="3520440"/>
            <a:ext cx="7900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AE" altLang="en-US" sz="1250" b="1" dirty="0">
                <a:solidFill>
                  <a:srgbClr val="FBBF24"/>
                </a:solidFill>
              </a:rPr>
              <a:t>قرار أخلاقي ثابت: </a:t>
            </a:r>
            <a:pPr algn="r" indent="0" marL="0">
              <a:buNone/>
            </a:pPr>
            <a:r>
              <a:rPr lang="ar-AE" altLang="en-US" sz="1250" dirty="0">
                <a:solidFill>
                  <a:srgbClr val="F3DFA6"/>
                </a:solidFill>
              </a:rPr>
              <a:t>لا نطلب ولا نخزّن أيّ بيانات طالب. وأسماء المعلّمين — إن أُدخلت — تبقى على جهاز المدرسة، وتُعرض بالاسم الأوّل افتراضياً. ولا تُنشَر نتيجة باسم المدرسة دون إذنها.</a:t>
            </a:r>
            <a:endParaRPr lang="ar-AE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11 · بصراحة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chemeClr val="tx1"/>
                </a:solidFill>
              </a:rPr>
              <a:t>ما نعرفه… وما لا ندّعيه</a:t>
            </a:r>
            <a:endParaRPr lang="en-US" sz="2700" dirty="0"/>
          </a:p>
        </p:txBody>
      </p:sp>
      <p:sp>
        <p:nvSpPr>
          <p:cNvPr id="5" name="real"/>
          <p:cNvSpPr/>
          <p:nvPr/>
        </p:nvSpPr>
        <p:spPr>
          <a:xfrm>
            <a:off x="4617720" y="1325880"/>
            <a:ext cx="4069080" cy="301752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6" name="limits"/>
          <p:cNvSpPr/>
          <p:nvPr/>
        </p:nvSpPr>
        <p:spPr>
          <a:xfrm>
            <a:off x="457200" y="1325880"/>
            <a:ext cx="4069080" cy="301752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4754880" y="1463040"/>
            <a:ext cx="37947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800"/>
              </a:spcAft>
              <a:buNone/>
            </a:pPr>
            <a:r>
              <a:rPr lang="ar-AE" altLang="en-US" sz="1500" b="1" dirty="0">
                <a:solidFill>
                  <a:srgbClr val="34D399"/>
                </a:solidFill>
              </a:rPr>
              <a:t>حقيقي ومُثبَت الآن</a:t>
            </a:r>
            <a:endParaRPr lang="ar-AE" sz="13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AE" altLang="en-US" sz="1300" dirty="0">
                <a:solidFill>
                  <a:srgbClr val="D5DEEC"/>
                </a:solidFill>
              </a:rPr>
              <a:t>المحرّك يعمل على أيّ بيانات تُستورَد</a:t>
            </a:r>
            <a:endParaRPr lang="ar-AE" sz="13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AE" altLang="en-US" sz="1300" dirty="0">
                <a:solidFill>
                  <a:srgbClr val="D5DEEC"/>
                </a:solidFill>
              </a:rPr>
              <a:t>٣٥ اختباراً تُشغَّل أمامكم وتُعاد بياناتكم بعدها</a:t>
            </a:r>
            <a:endParaRPr lang="ar-AE" sz="13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AE" altLang="en-US" sz="1300" dirty="0">
                <a:solidFill>
                  <a:srgbClr val="D5DEEC"/>
                </a:solidFill>
              </a:rPr>
              <a:t>الحصص المثبّتة تبقى بعد إعادة التوليد</a:t>
            </a:r>
            <a:endParaRPr lang="ar-AE" sz="13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AE" altLang="en-US" sz="1300" dirty="0">
                <a:solidFill>
                  <a:srgbClr val="D5DEEC"/>
                </a:solidFill>
              </a:rPr>
              <a:t>صفر اسم عائلة يتسرّب في أيّ دور أو تصدير</a:t>
            </a:r>
            <a:endParaRPr lang="ar-AE" sz="13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AE" altLang="en-US" sz="1300" dirty="0">
                <a:solidFill>
                  <a:srgbClr val="D5DEEC"/>
                </a:solidFill>
              </a:rPr>
              <a:t>يعمل دون إنترنت ودون خادم ودون اشتراك</a:t>
            </a:r>
            <a:endParaRPr lang="ar-AE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463040"/>
            <a:ext cx="37947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800"/>
              </a:spcAft>
              <a:buNone/>
            </a:pPr>
            <a:r>
              <a:rPr lang="ar-AE" altLang="en-US" sz="1500" b="1" dirty="0">
                <a:solidFill>
                  <a:srgbClr val="FBBF24"/>
                </a:solidFill>
              </a:rPr>
              <a:t>لم نجرّبه ولا ندّعيه</a:t>
            </a:r>
            <a:endParaRPr lang="ar-AE" sz="13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AE" altLang="en-US" sz="1300" dirty="0">
                <a:solidFill>
                  <a:srgbClr val="D5DEEC"/>
                </a:solidFill>
              </a:rPr>
              <a:t>لم نستورد بيانات مدرسة حقيقية بعد</a:t>
            </a:r>
            <a:endParaRPr lang="ar-AE" sz="13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AE" altLang="en-US" sz="1300" dirty="0">
                <a:solidFill>
                  <a:srgbClr val="D5DEEC"/>
                </a:solidFill>
              </a:rPr>
              <a:t>أرقام الطاقة تقديرية بافتراضات معلنة</a:t>
            </a:r>
            <a:endParaRPr lang="ar-AE" sz="13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AE" altLang="en-US" sz="1300" dirty="0">
                <a:solidFill>
                  <a:srgbClr val="D5DEEC"/>
                </a:solidFill>
              </a:rPr>
              <a:t>لا قياس ميداني لوقت المنسّق الفعلي</a:t>
            </a:r>
            <a:endParaRPr lang="ar-AE" sz="13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AE" altLang="en-US" sz="1300" dirty="0">
                <a:solidFill>
                  <a:srgbClr val="D5DEEC"/>
                </a:solidFill>
              </a:rPr>
              <a:t>اليوم ثابت: ٥ أيام × ٦ حصص</a:t>
            </a:r>
            <a:endParaRPr lang="ar-AE" sz="13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AE" altLang="en-US" sz="1300" dirty="0">
                <a:solidFill>
                  <a:srgbClr val="D5DEEC"/>
                </a:solidFill>
              </a:rPr>
              <a:t>«اسأل نَسَق» محرّك قواعد، لا نموذج لغة</a:t>
            </a:r>
            <a:endParaRPr lang="ar-AE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ar-AE" altLang="en-US" sz="1300" dirty="0">
                <a:solidFill>
                  <a:srgbClr val="B8C4D9"/>
                </a:solidFill>
              </a:rPr>
              <a:t>محكّم واحد يكتشف مبالغة يُسقِط المشروع كلّه. ولذلك نقول ما جرّبناه فقط.</a:t>
            </a:r>
            <a:endParaRPr lang="ar-AE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4160520" y="41148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3" name="cell"/>
          <p:cNvSpPr/>
          <p:nvPr/>
        </p:nvSpPr>
        <p:spPr>
          <a:xfrm>
            <a:off x="4292194" y="543154"/>
            <a:ext cx="153619" cy="153619"/>
          </a:xfrm>
          <a:prstGeom prst="roundRect">
            <a:avLst>
              <a:gd name="adj" fmla="val 20000"/>
            </a:avLst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  <p:txBody>
          <a:bodyPr/>
          <a:p/>
        </p:txBody>
      </p:sp>
      <p:sp>
        <p:nvSpPr>
          <p:cNvPr id="4" name="cell"/>
          <p:cNvSpPr/>
          <p:nvPr/>
        </p:nvSpPr>
        <p:spPr>
          <a:xfrm>
            <a:off x="4495190" y="543154"/>
            <a:ext cx="153619" cy="153619"/>
          </a:xfrm>
          <a:prstGeom prst="roundRect">
            <a:avLst>
              <a:gd name="adj" fmla="val 20000"/>
            </a:avLst>
          </a:prstGeom>
          <a:solidFill>
            <a:srgbClr val="0A1020">
              <a:alpha val="45000"/>
            </a:srgbClr>
          </a:solidFill>
          <a:ln w="12700">
            <a:solidFill>
              <a:srgbClr val="0A1020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cell"/>
          <p:cNvSpPr/>
          <p:nvPr/>
        </p:nvSpPr>
        <p:spPr>
          <a:xfrm>
            <a:off x="4698187" y="543154"/>
            <a:ext cx="153619" cy="153619"/>
          </a:xfrm>
          <a:prstGeom prst="roundRect">
            <a:avLst>
              <a:gd name="adj" fmla="val 20000"/>
            </a:avLst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  <p:txBody>
          <a:bodyPr/>
          <a:p/>
        </p:txBody>
      </p:sp>
      <p:sp>
        <p:nvSpPr>
          <p:cNvPr id="6" name="cell"/>
          <p:cNvSpPr/>
          <p:nvPr/>
        </p:nvSpPr>
        <p:spPr>
          <a:xfrm>
            <a:off x="4292194" y="746150"/>
            <a:ext cx="153619" cy="153619"/>
          </a:xfrm>
          <a:prstGeom prst="roundRect">
            <a:avLst>
              <a:gd name="adj" fmla="val 20000"/>
            </a:avLst>
          </a:prstGeom>
          <a:solidFill>
            <a:srgbClr val="0A1020">
              <a:alpha val="45000"/>
            </a:srgbClr>
          </a:solidFill>
          <a:ln w="12700">
            <a:solidFill>
              <a:srgbClr val="0A1020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cell"/>
          <p:cNvSpPr/>
          <p:nvPr/>
        </p:nvSpPr>
        <p:spPr>
          <a:xfrm>
            <a:off x="4495190" y="746150"/>
            <a:ext cx="153619" cy="153619"/>
          </a:xfrm>
          <a:prstGeom prst="roundRect">
            <a:avLst>
              <a:gd name="adj" fmla="val 20000"/>
            </a:avLst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  <p:txBody>
          <a:bodyPr/>
          <a:p/>
        </p:txBody>
      </p:sp>
      <p:sp>
        <p:nvSpPr>
          <p:cNvPr id="8" name="cell"/>
          <p:cNvSpPr/>
          <p:nvPr/>
        </p:nvSpPr>
        <p:spPr>
          <a:xfrm>
            <a:off x="4698187" y="746150"/>
            <a:ext cx="153619" cy="153619"/>
          </a:xfrm>
          <a:prstGeom prst="roundRect">
            <a:avLst>
              <a:gd name="adj" fmla="val 20000"/>
            </a:avLst>
          </a:prstGeom>
          <a:solidFill>
            <a:srgbClr val="0A1020">
              <a:alpha val="45000"/>
            </a:srgbClr>
          </a:solidFill>
          <a:ln w="12700">
            <a:solidFill>
              <a:srgbClr val="0A1020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cell"/>
          <p:cNvSpPr/>
          <p:nvPr/>
        </p:nvSpPr>
        <p:spPr>
          <a:xfrm>
            <a:off x="4292194" y="949147"/>
            <a:ext cx="153619" cy="153619"/>
          </a:xfrm>
          <a:prstGeom prst="roundRect">
            <a:avLst>
              <a:gd name="adj" fmla="val 20000"/>
            </a:avLst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  <p:txBody>
          <a:bodyPr/>
          <a:p/>
        </p:txBody>
      </p:sp>
      <p:sp>
        <p:nvSpPr>
          <p:cNvPr id="10" name="cell"/>
          <p:cNvSpPr/>
          <p:nvPr/>
        </p:nvSpPr>
        <p:spPr>
          <a:xfrm>
            <a:off x="4495190" y="949147"/>
            <a:ext cx="153619" cy="153619"/>
          </a:xfrm>
          <a:prstGeom prst="roundRect">
            <a:avLst>
              <a:gd name="adj" fmla="val 20000"/>
            </a:avLst>
          </a:prstGeom>
          <a:solidFill>
            <a:srgbClr val="0A1020">
              <a:alpha val="45000"/>
            </a:srgbClr>
          </a:solidFill>
          <a:ln w="12700">
            <a:solidFill>
              <a:srgbClr val="0A1020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cell"/>
          <p:cNvSpPr/>
          <p:nvPr/>
        </p:nvSpPr>
        <p:spPr>
          <a:xfrm>
            <a:off x="4698187" y="949147"/>
            <a:ext cx="153619" cy="153619"/>
          </a:xfrm>
          <a:prstGeom prst="roundRect">
            <a:avLst>
              <a:gd name="adj" fmla="val 20000"/>
            </a:avLst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914400" y="13258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ar-AE" altLang="en-US" sz="5200" b="1" dirty="0">
                <a:solidFill>
                  <a:srgbClr val="EAF0FA"/>
                </a:solidFill>
              </a:rPr>
              <a:t>نَسَق </a:t>
            </a:r>
            <a:pPr algn="ctr" indent="0" marL="0">
              <a:buNone/>
            </a:pPr>
            <a:r>
              <a:rPr lang="ar-AE" altLang="en-US" sz="2600" b="1" dirty="0">
                <a:solidFill>
                  <a:srgbClr val="1A1203"/>
                </a:solidFill>
                <a:highlight>
                  <a:srgbClr val="FBBF24"/>
                </a:highlight>
              </a:rPr>
              <a:t> v2 </a:t>
            </a:r>
            <a:endParaRPr lang="ar-AE" sz="52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21488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AE" altLang="en-US" sz="2000" b="1" dirty="0">
                <a:solidFill>
                  <a:srgbClr val="DCE6F5"/>
                </a:solidFill>
              </a:rPr>
              <a:t>جاهزٌ لمدرسةٍ حقيقية… لا لعرضٍ فقط</a:t>
            </a:r>
            <a:endParaRPr lang="ar-AE" sz="2000" dirty="0"/>
          </a:p>
        </p:txBody>
      </p:sp>
      <p:sp>
        <p:nvSpPr>
          <p:cNvPr id="14" name="c0"/>
          <p:cNvSpPr/>
          <p:nvPr/>
        </p:nvSpPr>
        <p:spPr>
          <a:xfrm>
            <a:off x="5760720" y="269748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5760720" y="278892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35/35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32461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200" dirty="0">
                <a:solidFill>
                  <a:srgbClr val="93A3BF"/>
                </a:solidFill>
              </a:rPr>
              <a:t>اختبار ناجح</a:t>
            </a:r>
            <a:endParaRPr lang="ar-AE" sz="1200" dirty="0"/>
          </a:p>
        </p:txBody>
      </p:sp>
      <p:sp>
        <p:nvSpPr>
          <p:cNvPr id="17" name="c1"/>
          <p:cNvSpPr/>
          <p:nvPr/>
        </p:nvSpPr>
        <p:spPr>
          <a:xfrm>
            <a:off x="4023360" y="269748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4023360" y="278892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1.38s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4023360" y="32461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200" dirty="0">
                <a:solidFill>
                  <a:srgbClr val="93A3BF"/>
                </a:solidFill>
              </a:rPr>
              <a:t>زمن التوليد</a:t>
            </a:r>
            <a:endParaRPr lang="ar-AE" sz="1200" dirty="0"/>
          </a:p>
        </p:txBody>
      </p:sp>
      <p:sp>
        <p:nvSpPr>
          <p:cNvPr id="20" name="c2"/>
          <p:cNvSpPr/>
          <p:nvPr/>
        </p:nvSpPr>
        <p:spPr>
          <a:xfrm>
            <a:off x="2286000" y="269748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2286000" y="278892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2286000" y="32461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200" dirty="0">
                <a:solidFill>
                  <a:srgbClr val="93A3BF"/>
                </a:solidFill>
              </a:rPr>
              <a:t>تعارض صلب</a:t>
            </a:r>
            <a:endParaRPr lang="ar-AE" sz="1200" dirty="0"/>
          </a:p>
        </p:txBody>
      </p:sp>
      <p:sp>
        <p:nvSpPr>
          <p:cNvPr id="23" name="cta"/>
          <p:cNvSpPr/>
          <p:nvPr/>
        </p:nvSpPr>
        <p:spPr>
          <a:xfrm>
            <a:off x="1143000" y="3794760"/>
            <a:ext cx="6858000" cy="475488"/>
          </a:xfrm>
          <a:prstGeom prst="roundRect">
            <a:avLst>
              <a:gd name="adj" fmla="val 25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1143000" y="379476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400" b="1" dirty="0">
                <a:solidFill>
                  <a:srgbClr val="1A1203"/>
                </a:solidFill>
              </a:rPr>
              <a:t>جرّبوه الآن: استوردوا بياناتكم… أو اضغطوا زرّ الاختبارات بأنفسكم</a:t>
            </a:r>
            <a:endParaRPr lang="ar-AE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AE" altLang="en-US" sz="1200" dirty="0">
                <a:solidFill>
                  <a:srgbClr val="93A3BF"/>
                </a:solidFill>
              </a:rPr>
              <a:t>شكراً لكم · إعداد وتقديم: غيث صادق كيوان · GEN CODE TEAM · مدرسة السدرة الخاصة — كلباء</a:t>
            </a:r>
            <a:endParaRPr lang="ar-AE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saq v2">
  <a:themeElements>
    <a:clrScheme name="Nasaq v2">
      <a:dk1>
        <a:srgbClr val="EAF0FA"/>
      </a:dk1>
      <a:lt1>
        <a:srgbClr val="060A14"/>
      </a:lt1>
      <a:dk2>
        <a:srgbClr val="93A3BF"/>
      </a:dk2>
      <a:lt2>
        <a:srgbClr val="111827"/>
      </a:lt2>
      <a:accent1>
        <a:srgbClr val="FBBF24"/>
      </a:accent1>
      <a:accent2>
        <a:srgbClr val="2DD4BF"/>
      </a:accent2>
      <a:accent3>
        <a:srgbClr val="38BDF8"/>
      </a:accent3>
      <a:accent4>
        <a:srgbClr val="FB7185"/>
      </a:accent4>
      <a:accent5>
        <a:srgbClr val="34D399"/>
      </a:accent5>
      <a:accent6>
        <a:srgbClr val="A78BFA"/>
      </a:accent6>
      <a:hlink>
        <a:srgbClr val="38BDF8"/>
      </a:hlink>
      <a:folHlink>
        <a:srgbClr val="A78BFA"/>
      </a:folHlink>
    </a:clrScheme>
    <a:fontScheme name="Nasaq v2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GEN CODE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نَسَق v2 — المرحلة الثانية</dc:title>
  <dc:subject>PptxGenJS Presentation</dc:subject>
  <dc:creator>GEN CODE TEAM</dc:creator>
  <cp:lastModifiedBy>GEN CODE TEAM</cp:lastModifiedBy>
  <cp:revision>1</cp:revision>
  <dcterms:created xsi:type="dcterms:W3CDTF">2026-10-08T01:24:12Z</dcterms:created>
  <dcterms:modified xsi:type="dcterms:W3CDTF">2026-10-08T01:24:12Z</dcterms:modified>
</cp:coreProperties>
</file>