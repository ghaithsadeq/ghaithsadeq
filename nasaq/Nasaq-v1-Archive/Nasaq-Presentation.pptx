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10-1.jpg" ContentType="image/jpg"/>
  <Override PartName="/ppt/media/image-11-1.jpg" ContentType="image/jpg"/>
  <Override PartName="/ppt/media/image-11-2.jpg" ContentType="image/jpg"/>
  <Override PartName="/ppt/media/image-3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250b4360-66a4-2df2-7ccd-5694f730a28d}">
          <p14:sldIdLst>
            <p14:sldId id="256"/>
          </p14:sldIdLst>
        </p14:section>
        <p14:section name="المشكلة والفكرة" id="{35a54600-b962-75aa-6ddf-6c446d1942ba}">
          <p14:sldIdLst>
            <p14:sldId id="257"/>
            <p14:sldId id="258"/>
          </p14:sldIdLst>
        </p14:section>
        <p14:section name="كيف يعمل" id="{30097ccd-b254-3cea-d679-ce1aa15df308}">
          <p14:sldIdLst>
            <p14:sldId id="259"/>
            <p14:sldId id="260"/>
          </p14:sldIdLst>
        </p14:section>
        <p14:section name="المزايا" id="{e296c7fa-3862-fac3-be78-c90ceb2a3b93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الأثر والخطوات" id="{305015f9-0b13-839c-da63-21661e390e34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AF0F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AF0FA"/>
                </a:solidFill>
                <a:latin typeface="+mn-lt"/>
              </a:rPr>
              <a:t>نقاط الجزاء المرنة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نقاط الجزاء المرنة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0F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قبل التحسين</c:v>
                  </c:pt>
                  <c:pt idx="1">
                    <c:v>بعد نَسَق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297</c:v>
                </c:pt>
                <c:pt idx="1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F0F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A1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مرحباً، نحن فريق GEN CODE من مدرسة السدرة الخاصة في كلباء. مشروعنا نَسَق: برنامج يولّد جدول المدرسة كاملاً بالذكاء الاصطناعي في ثوانٍ، بلا أيّ تعارض.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تخيّلوا ٢٤٠ حصّة و١٣ معلّماً و٨ صفوف وقاعات مشتركة. أيّ خطأ صغير يكسر الجدول كلّه، وكلّ غياب صباحي يعني اتصالات وأوراقاً.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الفكرة: المدرسة تحدّد القيود، ونَسَق يبحث عن أفضل جدول يحترمها كلّها، ثم يحميه من الأخطاء ويغطّي الغياب.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نَسَق لا يخمّن: يمثّل الجدول رياضياً، ويحسب كلفة كلّ ترتيب، ثم يستخدم خوارزمية التلدين المحاكى.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ليست أرقاماً مكتوبة باليد: صفر تعارض، في ثانية ونصف تقريباً، بعد ٤٠٠ ألف محاولة تحسين.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هذا جدول ٩-أ: الرياضيات والعلوم في الحصص الأولى حين يكون التركيز أعلى، والرياضة قبل العاشرة وخمسين دقيقة بسبب حرّ كلباء.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 حاول أحد تعديل الجدول بطريقة خاطئة، نَسَق يرفض ويشرح السبب، ويقترح تبديلات آمنة.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عند الغياب يرتّب نَسَق البدلاء بمعادلة واضحة، ونقرة واحدة تغطّي كلّ الحصص وتجهّز رسالة التكليف.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تجميع حصص القاعات يقلّل ساعات التكييف. التقدير قرابة ٣٧٠٠ درهم سنوياً، والافتراضات معلنة داخل البرنامج.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مستويات للأسماء تُطبَّق على كلّ الشاشات والرسائل والتقارير، وأربعة أدوار بصلاحيات، وسجلّ وصول حيّ.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يمكن سؤال نَسَق بالعربية ويجيب من الجدول مباشرة، ولوحة التحكّم تكبّر العرض وتغيّر المظهر للقاعات المضيئة.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نَسَق يخدم تصفير البيروقراطية، واستراتيجية الذكاء الاصطناعي، والاستدامة، وعام المجتمع.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نحن صريحون: هذا نموذج أوّلي يعمل فعلاً، لكن البيانات افتراضية وأرقام الطاقة تقديرية. خطوتنا القادمة استيراد بيانات حقيقية وتجربة مع إدارة المدرسة.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لكم. ندعوكم الآن لتجربة نَسَق مباشرة: اطلبوا أيّ تعديل، وسترون كيف يرفض الخطأ ويقترح البديل.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365760" y="4773168"/>
            <a:ext cx="4389120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نَسَق · غيث صادق كيوان · GEN CODE TEAM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4069080" y="50292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" name="logo cell"/>
          <p:cNvSpPr/>
          <p:nvPr/>
        </p:nvSpPr>
        <p:spPr>
          <a:xfrm>
            <a:off x="4230014" y="663854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4" name="logo cell"/>
          <p:cNvSpPr/>
          <p:nvPr/>
        </p:nvSpPr>
        <p:spPr>
          <a:xfrm>
            <a:off x="4478122" y="663854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logo cell"/>
          <p:cNvSpPr/>
          <p:nvPr/>
        </p:nvSpPr>
        <p:spPr>
          <a:xfrm>
            <a:off x="4726229" y="663854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6" name="logo cell"/>
          <p:cNvSpPr/>
          <p:nvPr/>
        </p:nvSpPr>
        <p:spPr>
          <a:xfrm>
            <a:off x="4230014" y="911962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logo cell"/>
          <p:cNvSpPr/>
          <p:nvPr/>
        </p:nvSpPr>
        <p:spPr>
          <a:xfrm>
            <a:off x="4478122" y="911962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8" name="logo cell"/>
          <p:cNvSpPr/>
          <p:nvPr/>
        </p:nvSpPr>
        <p:spPr>
          <a:xfrm>
            <a:off x="4726229" y="911962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logo cell"/>
          <p:cNvSpPr/>
          <p:nvPr/>
        </p:nvSpPr>
        <p:spPr>
          <a:xfrm>
            <a:off x="4230014" y="1160069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0" name="logo cell"/>
          <p:cNvSpPr/>
          <p:nvPr/>
        </p:nvSpPr>
        <p:spPr>
          <a:xfrm>
            <a:off x="4478122" y="1160069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logo cell"/>
          <p:cNvSpPr/>
          <p:nvPr/>
        </p:nvSpPr>
        <p:spPr>
          <a:xfrm>
            <a:off x="4726229" y="1160069"/>
            <a:ext cx="187757" cy="187757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7200" b="1" dirty="0">
                <a:solidFill>
                  <a:srgbClr val="EAF0FA"/>
                </a:solidFill>
              </a:rPr>
              <a:t>نَسَق</a:t>
            </a:r>
            <a:endParaRPr lang="ar-AE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2200" b="1" dirty="0">
                <a:solidFill>
                  <a:srgbClr val="DCE6F5"/>
                </a:solidFill>
              </a:rPr>
              <a:t>جدولٌ مدرسيّ كامل في ثوانٍ… بلا تعارضٍ واحد</a:t>
            </a:r>
            <a:endParaRPr lang="ar-AE" sz="2200" dirty="0"/>
          </a:p>
        </p:txBody>
      </p:sp>
      <p:sp>
        <p:nvSpPr>
          <p:cNvPr id="14" name="chip"/>
          <p:cNvSpPr/>
          <p:nvPr/>
        </p:nvSpPr>
        <p:spPr>
          <a:xfrm>
            <a:off x="7360920" y="3337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6092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b="1" dirty="0">
                <a:solidFill>
                  <a:srgbClr val="EAF0FA"/>
                </a:solidFill>
              </a:rPr>
              <a:t>يولّد</a:t>
            </a:r>
            <a:endParaRPr lang="ar-AE" sz="1300" dirty="0"/>
          </a:p>
        </p:txBody>
      </p:sp>
      <p:sp>
        <p:nvSpPr>
          <p:cNvPr id="16" name="chip"/>
          <p:cNvSpPr/>
          <p:nvPr/>
        </p:nvSpPr>
        <p:spPr>
          <a:xfrm>
            <a:off x="5897880" y="3337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89788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b="1" dirty="0">
                <a:solidFill>
                  <a:srgbClr val="EAF0FA"/>
                </a:solidFill>
              </a:rPr>
              <a:t>يمنع التعارض</a:t>
            </a:r>
            <a:endParaRPr lang="ar-AE" sz="1300" dirty="0"/>
          </a:p>
        </p:txBody>
      </p:sp>
      <p:sp>
        <p:nvSpPr>
          <p:cNvPr id="18" name="chip"/>
          <p:cNvSpPr/>
          <p:nvPr/>
        </p:nvSpPr>
        <p:spPr>
          <a:xfrm>
            <a:off x="4434840" y="3337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43484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b="1" dirty="0">
                <a:solidFill>
                  <a:srgbClr val="EAF0FA"/>
                </a:solidFill>
              </a:rPr>
              <a:t>يغطّي الغياب</a:t>
            </a:r>
            <a:endParaRPr lang="ar-AE" sz="1300" dirty="0"/>
          </a:p>
        </p:txBody>
      </p:sp>
      <p:sp>
        <p:nvSpPr>
          <p:cNvPr id="20" name="chip"/>
          <p:cNvSpPr/>
          <p:nvPr/>
        </p:nvSpPr>
        <p:spPr>
          <a:xfrm>
            <a:off x="2971800" y="3337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297180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b="1" dirty="0">
                <a:solidFill>
                  <a:srgbClr val="EAF0FA"/>
                </a:solidFill>
              </a:rPr>
              <a:t>يحمي الأسماء</a:t>
            </a:r>
            <a:endParaRPr lang="ar-AE" sz="1300" dirty="0"/>
          </a:p>
        </p:txBody>
      </p:sp>
      <p:sp>
        <p:nvSpPr>
          <p:cNvPr id="22" name="chip"/>
          <p:cNvSpPr/>
          <p:nvPr/>
        </p:nvSpPr>
        <p:spPr>
          <a:xfrm>
            <a:off x="1508760" y="333756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12700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1508760" y="33375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b="1" dirty="0">
                <a:solidFill>
                  <a:srgbClr val="EAF0FA"/>
                </a:solidFill>
              </a:rPr>
              <a:t>يوفّر الطاقة</a:t>
            </a:r>
            <a:endParaRPr lang="ar-A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rgbClr val="93A3BF"/>
                </a:solidFill>
              </a:rPr>
              <a:t>إعداد وتقديم: غيث صادق كيوان · GEN CODE TEAM · مدرسة السدرة الخاصة — كلباء</a:t>
            </a:r>
            <a:endParaRPr lang="ar-AE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· المشكلة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كلّ بداية فصل… نفس اللغز</a:t>
            </a:r>
            <a:endParaRPr lang="en-US" sz="2800" dirty="0"/>
          </a:p>
        </p:txBody>
      </p:sp>
      <p:sp>
        <p:nvSpPr>
          <p:cNvPr id="5" name="stat حصّة أسبوعياً"/>
          <p:cNvSpPr/>
          <p:nvPr/>
        </p:nvSpPr>
        <p:spPr>
          <a:xfrm>
            <a:off x="6675120" y="13258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675120" y="1435608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091233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حصّة أسبوعياً</a:t>
            </a:r>
            <a:endParaRPr lang="ar-AE" sz="1300" dirty="0"/>
          </a:p>
        </p:txBody>
      </p:sp>
      <p:sp>
        <p:nvSpPr>
          <p:cNvPr id="8" name="stat معلّماً"/>
          <p:cNvSpPr/>
          <p:nvPr/>
        </p:nvSpPr>
        <p:spPr>
          <a:xfrm>
            <a:off x="4599432" y="13258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99432" y="1435608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599432" y="2091233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معلّماً</a:t>
            </a:r>
            <a:endParaRPr lang="ar-AE" sz="1300" dirty="0"/>
          </a:p>
        </p:txBody>
      </p:sp>
      <p:sp>
        <p:nvSpPr>
          <p:cNvPr id="11" name="stat صفوف"/>
          <p:cNvSpPr/>
          <p:nvPr/>
        </p:nvSpPr>
        <p:spPr>
          <a:xfrm>
            <a:off x="2523744" y="13258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523744" y="1435608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2091233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صفوف</a:t>
            </a:r>
            <a:endParaRPr lang="ar-AE" sz="1300" dirty="0"/>
          </a:p>
        </p:txBody>
      </p:sp>
      <p:sp>
        <p:nvSpPr>
          <p:cNvPr id="14" name="stat قاعات مشتركة"/>
          <p:cNvSpPr/>
          <p:nvPr/>
        </p:nvSpPr>
        <p:spPr>
          <a:xfrm>
            <a:off x="448056" y="1325880"/>
            <a:ext cx="1920240" cy="1234440"/>
          </a:xfrm>
          <a:prstGeom prst="roundRect">
            <a:avLst>
              <a:gd name="adj" fmla="val 888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48056" y="1435608"/>
            <a:ext cx="192024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" y="2091233"/>
            <a:ext cx="1920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قاعات مشتركة</a:t>
            </a:r>
            <a:endParaRPr lang="ar-AE" sz="1300" dirty="0"/>
          </a:p>
        </p:txBody>
      </p:sp>
      <p:sp>
        <p:nvSpPr>
          <p:cNvPr id="17" name="pain 0"/>
          <p:cNvSpPr/>
          <p:nvPr/>
        </p:nvSpPr>
        <p:spPr>
          <a:xfrm>
            <a:off x="6675120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7665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400" b="1" dirty="0">
                <a:solidFill>
                  <a:srgbClr val="FFFFFF"/>
                </a:solidFill>
              </a:rPr>
              <a:t>⚠️ معلّم في صفّين</a:t>
            </a:r>
            <a:endParaRPr lang="ar-AE" sz="1400" dirty="0"/>
          </a:p>
          <a:p>
            <a:pPr algn="r" indent="0" marL="0">
              <a:buNone/>
            </a:pPr>
            <a:r>
              <a:rPr lang="ar-AE" altLang="en-US" sz="1400" dirty="0">
                <a:solidFill>
                  <a:srgbClr val="FECDD3"/>
                </a:solidFill>
              </a:rPr>
              <a:t>بالوقت نفسه</a:t>
            </a:r>
            <a:endParaRPr lang="ar-AE" sz="1400" dirty="0"/>
          </a:p>
        </p:txBody>
      </p:sp>
      <p:sp>
        <p:nvSpPr>
          <p:cNvPr id="19" name="pain 1"/>
          <p:cNvSpPr/>
          <p:nvPr/>
        </p:nvSpPr>
        <p:spPr>
          <a:xfrm>
            <a:off x="4599432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4690872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400" b="1" dirty="0">
                <a:solidFill>
                  <a:srgbClr val="FFFFFF"/>
                </a:solidFill>
              </a:rPr>
              <a:t>⚠️ المختبر محجوز</a:t>
            </a:r>
            <a:endParaRPr lang="ar-AE" sz="1400" dirty="0"/>
          </a:p>
          <a:p>
            <a:pPr algn="r" indent="0" marL="0">
              <a:buNone/>
            </a:pPr>
            <a:r>
              <a:rPr lang="ar-AE" altLang="en-US" sz="1400" dirty="0">
                <a:solidFill>
                  <a:srgbClr val="FECDD3"/>
                </a:solidFill>
              </a:rPr>
              <a:t>لأكثر من سعته</a:t>
            </a:r>
            <a:endParaRPr lang="ar-AE" sz="1400" dirty="0"/>
          </a:p>
        </p:txBody>
      </p:sp>
      <p:sp>
        <p:nvSpPr>
          <p:cNvPr id="21" name="pain 2"/>
          <p:cNvSpPr/>
          <p:nvPr/>
        </p:nvSpPr>
        <p:spPr>
          <a:xfrm>
            <a:off x="2523744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2615184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400" b="1" dirty="0">
                <a:solidFill>
                  <a:srgbClr val="FFFFFF"/>
                </a:solidFill>
              </a:rPr>
              <a:t>⚠️ رياضة الظهيرة</a:t>
            </a:r>
            <a:endParaRPr lang="ar-AE" sz="1400" dirty="0"/>
          </a:p>
          <a:p>
            <a:pPr algn="r" indent="0" marL="0">
              <a:buNone/>
            </a:pPr>
            <a:r>
              <a:rPr lang="ar-AE" altLang="en-US" sz="1400" dirty="0">
                <a:solidFill>
                  <a:srgbClr val="FECDD3"/>
                </a:solidFill>
              </a:rPr>
              <a:t>في حرّ كلباء</a:t>
            </a:r>
            <a:endParaRPr lang="ar-AE" sz="1400" dirty="0"/>
          </a:p>
        </p:txBody>
      </p:sp>
      <p:sp>
        <p:nvSpPr>
          <p:cNvPr id="23" name="pain 3"/>
          <p:cNvSpPr/>
          <p:nvPr/>
        </p:nvSpPr>
        <p:spPr>
          <a:xfrm>
            <a:off x="448056" y="27889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A1219"/>
          </a:solidFill>
          <a:ln w="9525">
            <a:solidFill>
              <a:srgbClr val="7F2A3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539496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400" b="1" dirty="0">
                <a:solidFill>
                  <a:srgbClr val="FFFFFF"/>
                </a:solidFill>
              </a:rPr>
              <a:t>⚠️ غياب مفاجئ</a:t>
            </a:r>
            <a:endParaRPr lang="ar-AE" sz="1400" dirty="0"/>
          </a:p>
          <a:p>
            <a:pPr algn="r" indent="0" marL="0">
              <a:buNone/>
            </a:pPr>
            <a:r>
              <a:rPr lang="ar-AE" altLang="en-US" sz="1400" dirty="0">
                <a:solidFill>
                  <a:srgbClr val="FECDD3"/>
                </a:solidFill>
              </a:rPr>
              <a:t>اتصالات وأوراق كلّ صباح</a:t>
            </a:r>
            <a:endParaRPr lang="ar-AE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500" dirty="0">
                <a:solidFill>
                  <a:srgbClr val="B8C4D9"/>
                </a:solidFill>
              </a:rPr>
              <a:t>ترتيب الجدول يدوياً يستغرق أياماً من المحاولة والخطأ (تقدير)، وتعارض واحد يُفسد كلّ شيء.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· الفكرة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المدرسة تحدّد القيود… ونَسَق يجد الجدول</a:t>
            </a:r>
            <a:endParaRPr lang="en-US" sz="2800" dirty="0"/>
          </a:p>
        </p:txBody>
      </p:sp>
      <p:sp>
        <p:nvSpPr>
          <p:cNvPr id="5" name="step icon 1"/>
          <p:cNvSpPr/>
          <p:nvPr/>
        </p:nvSpPr>
        <p:spPr>
          <a:xfrm>
            <a:off x="8229600" y="14173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371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تُدخل المدرسة المعلّمين والمواد وأوقات عدم التوفّر والأولويات</a:t>
            </a:r>
            <a:endParaRPr lang="ar-AE" sz="1500" dirty="0"/>
          </a:p>
        </p:txBody>
      </p:sp>
      <p:sp>
        <p:nvSpPr>
          <p:cNvPr id="8" name="step icon 2"/>
          <p:cNvSpPr/>
          <p:nvPr/>
        </p:nvSpPr>
        <p:spPr>
          <a:xfrm>
            <a:off x="822960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21031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يبحث نَسَق في مئات آلاف الاحتمالات ويختار الأفضل</a:t>
            </a:r>
            <a:endParaRPr lang="ar-AE" sz="1500" dirty="0"/>
          </a:p>
        </p:txBody>
      </p:sp>
      <p:sp>
        <p:nvSpPr>
          <p:cNvPr id="11" name="step icon 3"/>
          <p:cNvSpPr/>
          <p:nvPr/>
        </p:nvSpPr>
        <p:spPr>
          <a:xfrm>
            <a:off x="822960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2296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يحمي الجدول من أيّ تعديل خاطئ ويشرح السبب</a:t>
            </a:r>
            <a:endParaRPr lang="ar-AE" sz="1500" dirty="0"/>
          </a:p>
        </p:txBody>
      </p:sp>
      <p:sp>
        <p:nvSpPr>
          <p:cNvPr id="14" name="step icon 4"/>
          <p:cNvSpPr/>
          <p:nvPr/>
        </p:nvSpPr>
        <p:spPr>
          <a:xfrm>
            <a:off x="8229600" y="3611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يغطّي الغياب ويحمي الأسماء ويوفّر الطاقة</a:t>
            </a:r>
            <a:endParaRPr lang="ar-AE" sz="1500" dirty="0"/>
          </a:p>
        </p:txBody>
      </p:sp>
      <p:sp>
        <p:nvSpPr>
          <p:cNvPr id="17" name="generator screenshot frame"/>
          <p:cNvSpPr/>
          <p:nvPr/>
        </p:nvSpPr>
        <p:spPr>
          <a:xfrm>
            <a:off x="420624" y="1426464"/>
            <a:ext cx="4370832" cy="2490597"/>
          </a:xfrm>
          <a:prstGeom prst="roundRect">
            <a:avLst>
              <a:gd name="adj" fmla="val 2937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18" name="generator screenshot" descr="generator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297680" cy="24174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· كيف يعمل؟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ذكاء اصطناعي كلاسيكي: بحث وتحسين</a:t>
            </a:r>
            <a:endParaRPr lang="en-US" sz="2800" dirty="0"/>
          </a:p>
        </p:txBody>
      </p:sp>
      <p:sp>
        <p:nvSpPr>
          <p:cNvPr id="5" name="method 0"/>
          <p:cNvSpPr/>
          <p:nvPr/>
        </p:nvSpPr>
        <p:spPr>
          <a:xfrm>
            <a:off x="594360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08076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rgbClr val="EAF0FA"/>
                </a:solidFill>
              </a:rPr>
              <a:t>التمثيل</a:t>
            </a:r>
            <a:endParaRPr lang="ar-AE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08076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C9D3E3"/>
                </a:solidFill>
              </a:rPr>
              <a:t>كلّ صفّ = ٣٠ خانة (٥ أيام × ٦ حصص) تتوزّع عليها حصص المواد بالعدد المطلوب بالضبط.</a:t>
            </a:r>
            <a:endParaRPr lang="ar-AE" sz="1300" dirty="0"/>
          </a:p>
        </p:txBody>
      </p:sp>
      <p:sp>
        <p:nvSpPr>
          <p:cNvPr id="8" name="method 1"/>
          <p:cNvSpPr/>
          <p:nvPr/>
        </p:nvSpPr>
        <p:spPr>
          <a:xfrm>
            <a:off x="320040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33756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rgbClr val="EAF0FA"/>
                </a:solidFill>
              </a:rPr>
              <a:t>دالّة الكلفة</a:t>
            </a:r>
            <a:endParaRPr lang="ar-AE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33756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C9D3E3"/>
                </a:solidFill>
              </a:rPr>
              <a:t>كلّ تعارض صلب = ١٠٠٠ نقطة، وكلّ تفضيل مرن له وزن تضبطه المدرسة. الهدف: أقلّ كلفة.</a:t>
            </a:r>
            <a:endParaRPr lang="ar-AE" sz="1300" dirty="0"/>
          </a:p>
        </p:txBody>
      </p:sp>
      <p:sp>
        <p:nvSpPr>
          <p:cNvPr id="11" name="method 2"/>
          <p:cNvSpPr/>
          <p:nvPr/>
        </p:nvSpPr>
        <p:spPr>
          <a:xfrm>
            <a:off x="457200" y="13258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94360" y="1417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700" b="1" dirty="0">
                <a:solidFill>
                  <a:srgbClr val="EAF0FA"/>
                </a:solidFill>
              </a:rPr>
              <a:t>التلدين المحاكى</a:t>
            </a:r>
            <a:endParaRPr lang="ar-AE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187452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C9D3E3"/>
                </a:solidFill>
              </a:rPr>
              <a:t>يبدّل حصصاً ويقيس الأثر على اليومين المتأثّرين فقط، ويقبل أحياناً خطوة أسوأ ليهرب من الحلول المحلية، ثم «يبرد».</a:t>
            </a:r>
            <a:endParaRPr lang="ar-AE" sz="1300" dirty="0"/>
          </a:p>
        </p:txBody>
      </p:sp>
      <p:sp>
        <p:nvSpPr>
          <p:cNvPr id="14" name="hard rules"/>
          <p:cNvSpPr/>
          <p:nvPr/>
        </p:nvSpPr>
        <p:spPr>
          <a:xfrm>
            <a:off x="4617720" y="333756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soft rules"/>
          <p:cNvSpPr/>
          <p:nvPr/>
        </p:nvSpPr>
        <p:spPr>
          <a:xfrm>
            <a:off x="457200" y="3337560"/>
            <a:ext cx="4069080" cy="1143000"/>
          </a:xfrm>
          <a:prstGeom prst="roundRect">
            <a:avLst>
              <a:gd name="adj" fmla="val 96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754880" y="34015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300" b="1" dirty="0">
                <a:solidFill>
                  <a:srgbClr val="FB7185"/>
                </a:solidFill>
              </a:rPr>
              <a:t>قيود صلبة: </a:t>
            </a:r>
            <a:pPr algn="r" indent="0" marL="0">
              <a:buNone/>
            </a:pPr>
            <a:r>
              <a:rPr lang="ar-AE" altLang="en-US" sz="1300" dirty="0">
                <a:solidFill>
                  <a:srgbClr val="D5DEEC"/>
                </a:solidFill>
              </a:rPr>
              <a:t>لا معلّم في صفّين · سعة المختبرات والصالة · أوقات عدم التوفّر · لا تكرار للمادة في اليوم</a:t>
            </a:r>
            <a:endParaRPr lang="ar-AE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40156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AE" altLang="en-US" sz="1300" b="1" dirty="0">
                <a:solidFill>
                  <a:srgbClr val="FBBF24"/>
                </a:solidFill>
              </a:rPr>
              <a:t>تفضيلات مرنة: </a:t>
            </a:r>
            <a:pPr algn="r" indent="0" marL="0">
              <a:buNone/>
            </a:pPr>
            <a:r>
              <a:rPr lang="ar-AE" altLang="en-US" sz="1300" dirty="0">
                <a:solidFill>
                  <a:srgbClr val="D5DEEC"/>
                </a:solidFill>
              </a:rPr>
              <a:t>الرياضيات والعلوم صباحاً · الرياضة قبل ١٠:٥٠ · فراغات أقلّ للمعلّم · تجميع حصص القاعات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· النتائج المقاسة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أرقام يقيسها البرنامج على جهازك في كلّ مرّة</a:t>
            </a:r>
            <a:endParaRPr lang="en-US" sz="2800" dirty="0"/>
          </a:p>
        </p:txBody>
      </p:sp>
      <p:sp>
        <p:nvSpPr>
          <p:cNvPr id="5" name="result تعارض صلب"/>
          <p:cNvSpPr/>
          <p:nvPr/>
        </p:nvSpPr>
        <p:spPr>
          <a:xfrm>
            <a:off x="6675120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675120" y="1435608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2147926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تعارض صلب</a:t>
            </a:r>
            <a:endParaRPr lang="ar-AE" sz="1300" dirty="0"/>
          </a:p>
        </p:txBody>
      </p:sp>
      <p:sp>
        <p:nvSpPr>
          <p:cNvPr id="8" name="result زمن التوليد"/>
          <p:cNvSpPr/>
          <p:nvPr/>
        </p:nvSpPr>
        <p:spPr>
          <a:xfrm>
            <a:off x="4599432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599432" y="1435608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599432" y="2147926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زمن التوليد</a:t>
            </a:r>
            <a:endParaRPr lang="ar-AE" sz="1300" dirty="0"/>
          </a:p>
        </p:txBody>
      </p:sp>
      <p:sp>
        <p:nvSpPr>
          <p:cNvPr id="11" name="result محاولة تحسين"/>
          <p:cNvSpPr/>
          <p:nvPr/>
        </p:nvSpPr>
        <p:spPr>
          <a:xfrm>
            <a:off x="2523744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523744" y="1435608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2147926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محاولة تحسين</a:t>
            </a:r>
            <a:endParaRPr lang="ar-AE" sz="1300" dirty="0"/>
          </a:p>
        </p:txBody>
      </p:sp>
      <p:sp>
        <p:nvSpPr>
          <p:cNvPr id="14" name="result تحسّن عن الترتيب الأوّلي"/>
          <p:cNvSpPr/>
          <p:nvPr/>
        </p:nvSpPr>
        <p:spPr>
          <a:xfrm>
            <a:off x="448056" y="132588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48056" y="1435608"/>
            <a:ext cx="192024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448056" y="2147926"/>
            <a:ext cx="19202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تحسّن عن الترتيب الأوّلي</a:t>
            </a:r>
            <a:endParaRPr lang="ar-AE" sz="1300" dirty="0"/>
          </a:p>
        </p:txBody>
      </p:sp>
      <p:graphicFrame>
        <p:nvGraphicFramePr>
          <p:cNvPr id="17" name="penalty chart" descr=""/>
          <p:cNvGraphicFramePr/>
          <p:nvPr/>
        </p:nvGraphicFramePr>
        <p:xfrm>
          <a:off x="4617720" y="2788920"/>
          <a:ext cx="40690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457200" y="28803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قيست على بيانات العرض (٨ صفوف · ١٣ معلّماً · ٢٤٠ حصّة) وتختلف قليلاً بين تشغيل وآخر. التوليد المتكرّر أعطى صفر تعارض في كلّ مرّة.</a:t>
            </a:r>
            <a:endParaRPr lang="ar-AE" sz="1300" dirty="0"/>
          </a:p>
          <a:p>
            <a:pPr rtl="1" algn="r" indent="0" marL="0">
              <a:spcAft>
                <a:spcPts val="400"/>
              </a:spcAft>
              <a:buNone/>
            </a:pPr>
            <a:endParaRPr lang="ar-AE" sz="13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مؤشّر الجودة: 72% — الفراغات بين الحصص طبيعية ولا تختفي كلّها.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· جداول الصفوف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الرياضيات والعلوم صباحاً… والرياضة قبل الحرّ</a:t>
            </a:r>
            <a:endParaRPr lang="en-US" sz="2800" dirty="0"/>
          </a:p>
        </p:txBody>
      </p:sp>
      <p:sp>
        <p:nvSpPr>
          <p:cNvPr id="5" name="class timetable frame"/>
          <p:cNvSpPr/>
          <p:nvPr/>
        </p:nvSpPr>
        <p:spPr>
          <a:xfrm>
            <a:off x="1517904" y="1225296"/>
            <a:ext cx="6108192" cy="3467862"/>
          </a:xfrm>
          <a:prstGeom prst="roundRect">
            <a:avLst>
              <a:gd name="adj" fmla="val 2109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class timetable" descr="class time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61872"/>
            <a:ext cx="6035040" cy="33947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· الحماية من الخطأ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تبديل خاطئ؟ مرفوض… مع السبب</a:t>
            </a:r>
            <a:endParaRPr lang="en-US" sz="2800" dirty="0"/>
          </a:p>
        </p:txBody>
      </p:sp>
      <p:sp>
        <p:nvSpPr>
          <p:cNvPr id="5" name="rejected swap frame"/>
          <p:cNvSpPr/>
          <p:nvPr/>
        </p:nvSpPr>
        <p:spPr>
          <a:xfrm>
            <a:off x="420624" y="1335024"/>
            <a:ext cx="5010912" cy="2850642"/>
          </a:xfrm>
          <a:prstGeom prst="roundRect">
            <a:avLst>
              <a:gd name="adj" fmla="val 2566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rejected swap" descr="rejected sw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937760" cy="2777490"/>
          </a:xfrm>
          <a:prstGeom prst="rect">
            <a:avLst/>
          </a:prstGeom>
        </p:spPr>
      </p:pic>
      <p:sp>
        <p:nvSpPr>
          <p:cNvPr id="7" name="step icon 1"/>
          <p:cNvSpPr/>
          <p:nvPr/>
        </p:nvSpPr>
        <p:spPr>
          <a:xfrm>
            <a:off x="8229600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8229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✕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1600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يفحص كلّ تبديل فوراً قبل تطبيقه</a:t>
            </a:r>
            <a:endParaRPr lang="ar-AE" sz="1500" dirty="0"/>
          </a:p>
        </p:txBody>
      </p:sp>
      <p:sp>
        <p:nvSpPr>
          <p:cNvPr id="10" name="step icon 2"/>
          <p:cNvSpPr/>
          <p:nvPr/>
        </p:nvSpPr>
        <p:spPr>
          <a:xfrm>
            <a:off x="822960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2296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🔍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3774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يشرح السبب: المعلّم واليوم والحصّة والقاعة</a:t>
            </a:r>
            <a:endParaRPr lang="ar-AE" sz="1500" dirty="0"/>
          </a:p>
        </p:txBody>
      </p:sp>
      <p:sp>
        <p:nvSpPr>
          <p:cNvPr id="13" name="step icon 3"/>
          <p:cNvSpPr/>
          <p:nvPr/>
        </p:nvSpPr>
        <p:spPr>
          <a:xfrm>
            <a:off x="8229600" y="3200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8229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✨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0" y="31546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يقترح تبديلات آمنة تحسّن الجودة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· الغياب والبديل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غياب مفاجئ؟ تغطية كلّ الحصص بنقرة</a:t>
            </a:r>
            <a:endParaRPr lang="en-US" sz="2800" dirty="0"/>
          </a:p>
        </p:txBody>
      </p:sp>
      <p:sp>
        <p:nvSpPr>
          <p:cNvPr id="5" name="absence coverage frame"/>
          <p:cNvSpPr/>
          <p:nvPr/>
        </p:nvSpPr>
        <p:spPr>
          <a:xfrm>
            <a:off x="420624" y="1335024"/>
            <a:ext cx="5010912" cy="2850642"/>
          </a:xfrm>
          <a:prstGeom prst="roundRect">
            <a:avLst>
              <a:gd name="adj" fmla="val 2566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absence coverage" descr="absence co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937760" cy="2777490"/>
          </a:xfrm>
          <a:prstGeom prst="rect">
            <a:avLst/>
          </a:prstGeom>
        </p:spPr>
      </p:pic>
      <p:sp>
        <p:nvSpPr>
          <p:cNvPr id="7" name="weight التخصّص"/>
          <p:cNvSpPr/>
          <p:nvPr/>
        </p:nvSpPr>
        <p:spPr>
          <a:xfrm>
            <a:off x="7269480" y="137160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2694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40%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26948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التخصّص</a:t>
            </a:r>
            <a:endParaRPr lang="ar-AE" sz="1200" dirty="0"/>
          </a:p>
        </p:txBody>
      </p:sp>
      <p:sp>
        <p:nvSpPr>
          <p:cNvPr id="10" name="weight حمل خفيف"/>
          <p:cNvSpPr/>
          <p:nvPr/>
        </p:nvSpPr>
        <p:spPr>
          <a:xfrm>
            <a:off x="5669280" y="137160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6692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25%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حمل خفيف</a:t>
            </a:r>
            <a:endParaRPr lang="ar-AE" sz="1200" dirty="0"/>
          </a:p>
        </p:txBody>
      </p:sp>
      <p:sp>
        <p:nvSpPr>
          <p:cNvPr id="13" name="weight عدالة البدل"/>
          <p:cNvSpPr/>
          <p:nvPr/>
        </p:nvSpPr>
        <p:spPr>
          <a:xfrm>
            <a:off x="7269480" y="23774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72694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20%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عدالة البدل</a:t>
            </a:r>
            <a:endParaRPr lang="ar-AE" sz="1200" dirty="0"/>
          </a:p>
        </p:txBody>
      </p:sp>
      <p:sp>
        <p:nvSpPr>
          <p:cNvPr id="16" name="weight يعرف الصفّ"/>
          <p:cNvSpPr/>
          <p:nvPr/>
        </p:nvSpPr>
        <p:spPr>
          <a:xfrm>
            <a:off x="5669280" y="2377440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6692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15%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566928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93A3BF"/>
                </a:solidFill>
              </a:rPr>
              <a:t>يعرف الصفّ</a:t>
            </a:r>
            <a:endParaRPr lang="ar-AE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البديل يجب أن يكون فارغاً ومتاحاً. المعادلة معلنة، فالقرار مفهوم وعادل، ورسالة التكليف جاهزة بلا أوراق ولا اتصالات.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· الاستدامة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الجدول نفسه يوفّر الطاقة</a:t>
            </a:r>
            <a:endParaRPr lang="en-US" sz="2800" dirty="0"/>
          </a:p>
        </p:txBody>
      </p:sp>
      <p:sp>
        <p:nvSpPr>
          <p:cNvPr id="5" name="rooms energy frame"/>
          <p:cNvSpPr/>
          <p:nvPr/>
        </p:nvSpPr>
        <p:spPr>
          <a:xfrm>
            <a:off x="420624" y="1335024"/>
            <a:ext cx="5010912" cy="2850642"/>
          </a:xfrm>
          <a:prstGeom prst="roundRect">
            <a:avLst>
              <a:gd name="adj" fmla="val 2566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rooms energy" descr="rooms energ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937760" cy="2777490"/>
          </a:xfrm>
          <a:prstGeom prst="rect">
            <a:avLst/>
          </a:prstGeom>
        </p:spPr>
      </p:pic>
      <p:sp>
        <p:nvSpPr>
          <p:cNvPr id="7" name="kwh"/>
          <p:cNvSpPr/>
          <p:nvPr/>
        </p:nvSpPr>
        <p:spPr>
          <a:xfrm>
            <a:off x="7178040" y="137160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178040" y="1481328"/>
            <a:ext cx="15087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178040" y="205191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ك.و.س أسبوعياً</a:t>
            </a:r>
            <a:endParaRPr lang="ar-AE" sz="1300" dirty="0"/>
          </a:p>
        </p:txBody>
      </p:sp>
      <p:sp>
        <p:nvSpPr>
          <p:cNvPr id="10" name="aed"/>
          <p:cNvSpPr/>
          <p:nvPr/>
        </p:nvSpPr>
        <p:spPr>
          <a:xfrm>
            <a:off x="5577840" y="1371600"/>
            <a:ext cx="150876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5577840" y="1481328"/>
            <a:ext cx="15087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3,700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577840" y="205191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300" dirty="0">
                <a:solidFill>
                  <a:srgbClr val="93A3BF"/>
                </a:solidFill>
              </a:rPr>
              <a:t>درهم سنوياً</a:t>
            </a:r>
            <a:endParaRPr lang="ar-AE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697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300" dirty="0">
                <a:solidFill>
                  <a:srgbClr val="B8C4D9"/>
                </a:solidFill>
              </a:rPr>
              <a:t>نَسَق يجمّع حصص المختبرات والصالة في كتل متتالية، فيعمل التكييف من أوّل حصّة إلى آخرها فقط بدل اليوم كلّه.</a:t>
            </a:r>
            <a:endParaRPr lang="ar-AE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100" dirty="0">
                <a:solidFill>
                  <a:srgbClr val="93A3BF"/>
                </a:solidFill>
              </a:rPr>
              <a:t>تقدير بافتراضات معلنة: قدرة تكييف كلّ قاعة، و0.38 درهم لكلّ ك.و.س، و36 أسبوعاً دراسياً.</a:t>
            </a:r>
            <a:endParaRPr lang="ar-AE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 · الخصوصية والثقة الرقمية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الأسماء محميّة في كلّ مكان</a:t>
            </a:r>
            <a:endParaRPr lang="en-US" sz="2800" dirty="0"/>
          </a:p>
        </p:txBody>
      </p:sp>
      <p:sp>
        <p:nvSpPr>
          <p:cNvPr id="5" name="privacy codes screenshot frame"/>
          <p:cNvSpPr/>
          <p:nvPr/>
        </p:nvSpPr>
        <p:spPr>
          <a:xfrm>
            <a:off x="420624" y="1335024"/>
            <a:ext cx="4645152" cy="2644902"/>
          </a:xfrm>
          <a:prstGeom prst="roundRect">
            <a:avLst>
              <a:gd name="adj" fmla="val 2766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privacy codes screenshot" descr="privacy code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572000" cy="2571750"/>
          </a:xfrm>
          <a:prstGeom prst="rect">
            <a:avLst/>
          </a:prstGeom>
        </p:spPr>
      </p:pic>
      <p:sp>
        <p:nvSpPr>
          <p:cNvPr id="7" name="level 0"/>
          <p:cNvSpPr/>
          <p:nvPr/>
        </p:nvSpPr>
        <p:spPr>
          <a:xfrm>
            <a:off x="7635240" y="137160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 txBox="1"/>
          <p:nvPr/>
        </p:nvSpPr>
        <p:spPr>
          <a:xfrm>
            <a:off x="7635240" y="1371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AE" altLang="en-US" sz="1050" b="1" dirty="0">
                <a:solidFill>
                  <a:srgbClr val="EAF0FA"/>
                </a:solidFill>
              </a:rPr>
              <a:t>الاسم الكامل</a:t>
            </a:r>
            <a:endParaRPr lang="ar-AE" sz="1050" dirty="0"/>
          </a:p>
          <a:p>
            <a:pPr algn="ctr" indent="0" marL="0">
              <a:buNone/>
            </a:pPr>
            <a:r>
              <a:rPr lang="ar-AE" altLang="en-US" sz="1050" dirty="0">
                <a:solidFill>
                  <a:srgbClr val="93A3BF"/>
                </a:solidFill>
              </a:rPr>
              <a:t>أ. نورة الكعبي</a:t>
            </a:r>
            <a:endParaRPr lang="ar-AE" sz="1050" dirty="0"/>
          </a:p>
        </p:txBody>
      </p:sp>
      <p:sp>
        <p:nvSpPr>
          <p:cNvPr id="9" name="level 1"/>
          <p:cNvSpPr/>
          <p:nvPr/>
        </p:nvSpPr>
        <p:spPr>
          <a:xfrm>
            <a:off x="6565392" y="137160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2A230B"/>
          </a:solidFill>
          <a:ln w="952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6565392" y="1371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AE" altLang="en-US" sz="1050" b="1" dirty="0">
                <a:solidFill>
                  <a:srgbClr val="EAF0FA"/>
                </a:solidFill>
              </a:rPr>
              <a:t>الاسم الأوّل</a:t>
            </a:r>
            <a:endParaRPr lang="ar-AE" sz="1050" dirty="0"/>
          </a:p>
          <a:p>
            <a:pPr algn="ctr" indent="0" marL="0">
              <a:buNone/>
            </a:pPr>
            <a:r>
              <a:rPr lang="ar-AE" altLang="en-US" sz="1050" dirty="0">
                <a:solidFill>
                  <a:srgbClr val="93A3BF"/>
                </a:solidFill>
              </a:rPr>
              <a:t>أ. نورة</a:t>
            </a:r>
            <a:endParaRPr lang="ar-AE" sz="1050" dirty="0"/>
          </a:p>
        </p:txBody>
      </p:sp>
      <p:sp>
        <p:nvSpPr>
          <p:cNvPr id="11" name="level 2"/>
          <p:cNvSpPr/>
          <p:nvPr/>
        </p:nvSpPr>
        <p:spPr>
          <a:xfrm>
            <a:off x="5495544" y="137160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5495544" y="1371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AE" altLang="en-US" sz="1050" b="1" dirty="0">
                <a:solidFill>
                  <a:srgbClr val="EAF0FA"/>
                </a:solidFill>
              </a:rPr>
              <a:t>رموز فقط</a:t>
            </a:r>
            <a:endParaRPr lang="ar-AE" sz="1050" dirty="0"/>
          </a:p>
          <a:p>
            <a:pPr algn="ctr" indent="0" marL="0">
              <a:buNone/>
            </a:pPr>
            <a:r>
              <a:rPr lang="ar-AE" altLang="en-US" sz="1050" dirty="0">
                <a:solidFill>
                  <a:srgbClr val="93A3BF"/>
                </a:solidFill>
              </a:rPr>
              <a:t>م-07</a:t>
            </a:r>
            <a:endParaRPr lang="ar-AE" sz="1050" dirty="0"/>
          </a:p>
        </p:txBody>
      </p:sp>
      <p:sp>
        <p:nvSpPr>
          <p:cNvPr id="13" name="step icon 1"/>
          <p:cNvSpPr/>
          <p:nvPr/>
        </p:nvSpPr>
        <p:spPr>
          <a:xfrm>
            <a:off x="8229600" y="24688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 txBox="1"/>
          <p:nvPr/>
        </p:nvSpPr>
        <p:spPr>
          <a:xfrm>
            <a:off x="8229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🎭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24231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٤ أدوار: القيادة · المنسّق · المعلّم · الطالب ووليّ الأمر</a:t>
            </a:r>
            <a:endParaRPr lang="ar-AE" sz="1500" dirty="0"/>
          </a:p>
        </p:txBody>
      </p:sp>
      <p:sp>
        <p:nvSpPr>
          <p:cNvPr id="16" name="step icon 2"/>
          <p:cNvSpPr/>
          <p:nvPr/>
        </p:nvSpPr>
        <p:spPr>
          <a:xfrm>
            <a:off x="8229600" y="3154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82296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🧾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31089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سجلّ وصول حيّ لكلّ إجراء + مصفوفة صلاحيات</a:t>
            </a:r>
            <a:endParaRPr lang="ar-AE" sz="1500" dirty="0"/>
          </a:p>
        </p:txBody>
      </p:sp>
      <p:sp>
        <p:nvSpPr>
          <p:cNvPr id="19" name="step icon 3"/>
          <p:cNvSpPr/>
          <p:nvPr/>
        </p:nvSpPr>
        <p:spPr>
          <a:xfrm>
            <a:off x="8229600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A2E0B"/>
          </a:solidFill>
          <a:ln w="9525">
            <a:solidFill>
              <a:srgbClr val="6B5414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 txBox="1"/>
          <p:nvPr/>
        </p:nvSpPr>
        <p:spPr>
          <a:xfrm>
            <a:off x="82296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💾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5303520" y="37947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dirty="0">
                <a:solidFill>
                  <a:srgbClr val="EAF0FA"/>
                </a:solidFill>
              </a:rPr>
              <a:t>صفر بيانات تُرسَل للخارج · كلّ شيء على الجهاز</a:t>
            </a:r>
            <a:endParaRPr lang="ar-AE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· اسأل نَسَق + لوحة العرض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يفهم العربية… ويناسب أيّ قاعة</a:t>
            </a:r>
            <a:endParaRPr lang="en-US" sz="2800" dirty="0"/>
          </a:p>
        </p:txBody>
      </p:sp>
      <p:sp>
        <p:nvSpPr>
          <p:cNvPr id="5" name="ask nasaq frame"/>
          <p:cNvSpPr/>
          <p:nvPr/>
        </p:nvSpPr>
        <p:spPr>
          <a:xfrm>
            <a:off x="4626864" y="1289304"/>
            <a:ext cx="4096512" cy="2336292"/>
          </a:xfrm>
          <a:prstGeom prst="roundRect">
            <a:avLst>
              <a:gd name="adj" fmla="val 3131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6" name="ask nasaq" descr="ask nasa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25880"/>
            <a:ext cx="4023360" cy="2263140"/>
          </a:xfrm>
          <a:prstGeom prst="rect">
            <a:avLst/>
          </a:prstGeom>
        </p:spPr>
      </p:pic>
      <p:sp>
        <p:nvSpPr>
          <p:cNvPr id="7" name="control panel frame"/>
          <p:cNvSpPr/>
          <p:nvPr/>
        </p:nvSpPr>
        <p:spPr>
          <a:xfrm>
            <a:off x="420624" y="1289304"/>
            <a:ext cx="4096512" cy="2336292"/>
          </a:xfrm>
          <a:prstGeom prst="roundRect">
            <a:avLst>
              <a:gd name="adj" fmla="val 3131"/>
            </a:avLst>
          </a:prstGeom>
          <a:solidFill>
            <a:srgbClr val="1F2937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pic>
        <p:nvPicPr>
          <p:cNvPr id="8" name="control panel" descr="control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023360" cy="22631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AE" altLang="en-US" sz="1400" dirty="0">
                <a:solidFill>
                  <a:srgbClr val="B8C4D9"/>
                </a:solidFill>
              </a:rPr>
              <a:t>«من المتاح الحصّة الثالثة يوم الثلاثاء؟» يجيب من الجدول الحيّ، دون إنترنت ودون مفتاح · تكبير حتى ١٤٥٪ · مظهر للبروجكتر · وضع نظيف للتحكيم</a:t>
            </a:r>
            <a:endParaRPr lang="ar-AE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 · المواءمة الوطنية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مشروعٌ يخدم أولويات وطننا 🇦🇪</a:t>
            </a:r>
            <a:endParaRPr lang="en-US" sz="2800" dirty="0"/>
          </a:p>
        </p:txBody>
      </p:sp>
      <p:sp>
        <p:nvSpPr>
          <p:cNvPr id="5" name="goal 0"/>
          <p:cNvSpPr/>
          <p:nvPr/>
        </p:nvSpPr>
        <p:spPr>
          <a:xfrm>
            <a:off x="667512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67512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📄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784848" y="2331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تصفير البيروقراطية</a:t>
            </a:r>
            <a:endParaRPr lang="ar-AE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784848" y="310896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B8C4D9"/>
                </a:solidFill>
              </a:rPr>
              <a:t>جدول وتغطية غياب بلا أوراق ولا اتصالات صباحية</a:t>
            </a:r>
            <a:endParaRPr lang="ar-AE" sz="1200" dirty="0"/>
          </a:p>
        </p:txBody>
      </p:sp>
      <p:sp>
        <p:nvSpPr>
          <p:cNvPr id="9" name="goal 1"/>
          <p:cNvSpPr/>
          <p:nvPr/>
        </p:nvSpPr>
        <p:spPr>
          <a:xfrm>
            <a:off x="4599432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599432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331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استراتيجية الذكاء الاصطناعي ٢٠٣١</a:t>
            </a:r>
            <a:endParaRPr lang="ar-AE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10896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B8C4D9"/>
                </a:solidFill>
              </a:rPr>
              <a:t>خوارزمية بحث وتحسين تحلّ مسألة جدولة معقّدة</a:t>
            </a:r>
            <a:endParaRPr lang="ar-AE" sz="1200" dirty="0"/>
          </a:p>
        </p:txBody>
      </p:sp>
      <p:sp>
        <p:nvSpPr>
          <p:cNvPr id="13" name="goal 2"/>
          <p:cNvSpPr/>
          <p:nvPr/>
        </p:nvSpPr>
        <p:spPr>
          <a:xfrm>
            <a:off x="2523744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2523744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2633472" y="2331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الاستدامة والحياد المناخي</a:t>
            </a:r>
            <a:endParaRPr lang="ar-AE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633472" y="310896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B8C4D9"/>
                </a:solidFill>
              </a:rPr>
              <a:t>ساعات تكييف أقلّ ورياضة قبل الحرّ</a:t>
            </a:r>
            <a:endParaRPr lang="ar-AE" sz="1200" dirty="0"/>
          </a:p>
        </p:txBody>
      </p:sp>
      <p:sp>
        <p:nvSpPr>
          <p:cNvPr id="17" name="goal 3"/>
          <p:cNvSpPr/>
          <p:nvPr/>
        </p:nvSpPr>
        <p:spPr>
          <a:xfrm>
            <a:off x="448056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448056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" y="233172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عام المجتمع</a:t>
            </a:r>
            <a:endParaRPr lang="ar-AE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" y="3108960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AE" altLang="en-US" sz="1200" dirty="0">
                <a:solidFill>
                  <a:srgbClr val="B8C4D9"/>
                </a:solidFill>
              </a:rPr>
              <a:t>معلّم مرتاح، وعدالة في البدل، وأسرة تعرف الجدول</a:t>
            </a:r>
            <a:endParaRPr lang="ar-AE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rtl="1"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12 · بصراحة… وماذا بعد؟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نموذج أوّلي يعمل، وخطوات واضحة</a:t>
            </a:r>
            <a:endParaRPr lang="en-US" sz="2800" dirty="0"/>
          </a:p>
        </p:txBody>
      </p:sp>
      <p:sp>
        <p:nvSpPr>
          <p:cNvPr id="5" name="honesty"/>
          <p:cNvSpPr/>
          <p:nvPr/>
        </p:nvSpPr>
        <p:spPr>
          <a:xfrm>
            <a:off x="4617720" y="13258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6" name="roadmap"/>
          <p:cNvSpPr/>
          <p:nvPr/>
        </p:nvSpPr>
        <p:spPr>
          <a:xfrm>
            <a:off x="457200" y="13258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9525">
            <a:solidFill>
              <a:srgbClr val="26324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4754880" y="1463040"/>
            <a:ext cx="3794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900"/>
              </a:spcAft>
              <a:buNone/>
            </a:pPr>
            <a:r>
              <a:rPr lang="ar-AE" altLang="en-US" sz="1500" b="1" dirty="0">
                <a:solidFill>
                  <a:srgbClr val="34D399"/>
                </a:solidFill>
              </a:rPr>
              <a:t>ما هو حقيقي اليوم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المحرّك يولّد ويحسّن ويرفض التعارض فعلياً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الأرقام المقاسة تُحسب على الجهاز في كلّ مرّة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يعمل دون إنترنت ودون اشتراك أو مفتاح</a:t>
            </a:r>
            <a:endParaRPr lang="ar-AE" sz="1400" dirty="0"/>
          </a:p>
          <a:p>
            <a:pPr algn="r" indent="0" marL="0">
              <a:spcAft>
                <a:spcPts val="900"/>
              </a:spcAft>
              <a:buNone/>
            </a:pPr>
            <a:r>
              <a:rPr lang="ar-AE" altLang="en-US" sz="1500" b="1" dirty="0">
                <a:solidFill>
                  <a:srgbClr val="FBBF24"/>
                </a:solidFill>
              </a:rPr>
              <a:t>ما نقوله بوضوح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البيانات والأسماء افتراضية للعرض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أرقام الطاقة تقديرية بافتراضات معلنة</a:t>
            </a:r>
            <a:endParaRPr lang="ar-AE" sz="1400" dirty="0"/>
          </a:p>
          <a:p>
            <a:pPr algn="r" marL="342900" indent="-342900">
              <a:spcAft>
                <a:spcPts val="900"/>
              </a:spcAft>
              <a:buSzPct val="100000"/>
              <a:buChar char="•"/>
            </a:pPr>
            <a:r>
              <a:rPr lang="ar-AE" altLang="en-US" sz="1400" dirty="0">
                <a:solidFill>
                  <a:srgbClr val="D5DEEC"/>
                </a:solidFill>
              </a:rPr>
              <a:t>المساعد قائم على قواعد، وليس نموذج لغة</a:t>
            </a:r>
            <a:endParaRPr lang="ar-AE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500" b="1" dirty="0">
                <a:solidFill>
                  <a:srgbClr val="EAF0FA"/>
                </a:solidFill>
              </a:rPr>
              <a:t>الخطوات القادمة</a:t>
            </a:r>
            <a:endParaRPr lang="ar-AE" sz="1500" dirty="0"/>
          </a:p>
        </p:txBody>
      </p:sp>
      <p:sp>
        <p:nvSpPr>
          <p:cNvPr id="9" name="road 1"/>
          <p:cNvSpPr/>
          <p:nvPr/>
        </p:nvSpPr>
        <p:spPr>
          <a:xfrm>
            <a:off x="3840480" y="196596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840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3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D5DEEC"/>
                </a:solidFill>
              </a:rPr>
              <a:t>استيراد Excel: بيانات المدرسة الفعلية بنقرة</a:t>
            </a:r>
            <a:endParaRPr lang="ar-AE" sz="1300" dirty="0"/>
          </a:p>
        </p:txBody>
      </p:sp>
      <p:sp>
        <p:nvSpPr>
          <p:cNvPr id="12" name="road 2"/>
          <p:cNvSpPr/>
          <p:nvPr/>
        </p:nvSpPr>
        <p:spPr>
          <a:xfrm>
            <a:off x="3840480" y="274320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8404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3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D5DEEC"/>
                </a:solidFill>
              </a:rPr>
              <a:t>تجربة تجريبية مع إدارة المدرسة بموافقة رسمية</a:t>
            </a:r>
            <a:endParaRPr lang="ar-AE" sz="1300" dirty="0"/>
          </a:p>
        </p:txBody>
      </p:sp>
      <p:sp>
        <p:nvSpPr>
          <p:cNvPr id="15" name="road 3"/>
          <p:cNvSpPr/>
          <p:nvPr/>
        </p:nvSpPr>
        <p:spPr>
          <a:xfrm>
            <a:off x="3840480" y="352044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3840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3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AE" altLang="en-US" sz="1300" dirty="0">
                <a:solidFill>
                  <a:srgbClr val="D5DEEC"/>
                </a:solidFill>
              </a:rPr>
              <a:t>تعدّد المباني والفترات ومدارس الحلقتين معاً</a:t>
            </a:r>
            <a:endParaRPr lang="ar-AE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4114800" y="54864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" name="logo cell"/>
          <p:cNvSpPr/>
          <p:nvPr/>
        </p:nvSpPr>
        <p:spPr>
          <a:xfrm>
            <a:off x="4261104" y="69494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4" name="logo cell"/>
          <p:cNvSpPr/>
          <p:nvPr/>
        </p:nvSpPr>
        <p:spPr>
          <a:xfrm>
            <a:off x="4486656" y="69494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logo cell"/>
          <p:cNvSpPr/>
          <p:nvPr/>
        </p:nvSpPr>
        <p:spPr>
          <a:xfrm>
            <a:off x="4712208" y="694944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6" name="logo cell"/>
          <p:cNvSpPr/>
          <p:nvPr/>
        </p:nvSpPr>
        <p:spPr>
          <a:xfrm>
            <a:off x="4261104" y="92049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logo cell"/>
          <p:cNvSpPr/>
          <p:nvPr/>
        </p:nvSpPr>
        <p:spPr>
          <a:xfrm>
            <a:off x="4486656" y="92049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8" name="logo cell"/>
          <p:cNvSpPr/>
          <p:nvPr/>
        </p:nvSpPr>
        <p:spPr>
          <a:xfrm>
            <a:off x="4712208" y="920496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logo cell"/>
          <p:cNvSpPr/>
          <p:nvPr/>
        </p:nvSpPr>
        <p:spPr>
          <a:xfrm>
            <a:off x="4261104" y="114604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0" name="logo cell"/>
          <p:cNvSpPr/>
          <p:nvPr/>
        </p:nvSpPr>
        <p:spPr>
          <a:xfrm>
            <a:off x="4486656" y="114604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>
              <a:alpha val="45000"/>
            </a:srgbClr>
          </a:solidFill>
          <a:ln w="12700">
            <a:solidFill>
              <a:srgbClr val="0A1020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logo cell"/>
          <p:cNvSpPr/>
          <p:nvPr/>
        </p:nvSpPr>
        <p:spPr>
          <a:xfrm>
            <a:off x="4712208" y="1146048"/>
            <a:ext cx="170688" cy="170688"/>
          </a:xfrm>
          <a:prstGeom prst="roundRect">
            <a:avLst>
              <a:gd name="adj" fmla="val 20000"/>
            </a:avLst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144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6400" b="1" dirty="0">
                <a:solidFill>
                  <a:srgbClr val="EAF0FA"/>
                </a:solidFill>
              </a:rPr>
              <a:t>نَسَق</a:t>
            </a:r>
            <a:endParaRPr lang="ar-AE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468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2200" b="1" dirty="0">
                <a:solidFill>
                  <a:srgbClr val="DCE6F5"/>
                </a:solidFill>
              </a:rPr>
              <a:t>جدولٌ بلا تعارض… ووقتٌ أكثر للتعليم</a:t>
            </a:r>
            <a:endParaRPr lang="ar-AE" sz="2200" dirty="0"/>
          </a:p>
        </p:txBody>
      </p:sp>
      <p:sp>
        <p:nvSpPr>
          <p:cNvPr id="14" name="cta"/>
          <p:cNvSpPr/>
          <p:nvPr/>
        </p:nvSpPr>
        <p:spPr>
          <a:xfrm>
            <a:off x="1143000" y="3200400"/>
            <a:ext cx="6858000" cy="548640"/>
          </a:xfrm>
          <a:prstGeom prst="roundRect">
            <a:avLst>
              <a:gd name="adj" fmla="val 25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143000" y="3200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AE" altLang="en-US" sz="1600" b="1" dirty="0">
                <a:solidFill>
                  <a:srgbClr val="1A1203"/>
                </a:solidFill>
              </a:rPr>
              <a:t>جرّبوه الآن: اطلبوا أيّ تعديل… ونَسَق يرفض الخطأ أمامكم</a:t>
            </a:r>
            <a:endParaRPr lang="ar-AE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AE" altLang="en-US" sz="1400" dirty="0">
                <a:solidFill>
                  <a:srgbClr val="93A3BF"/>
                </a:solidFill>
              </a:rPr>
              <a:t>شكراً لكم · إعداد وتقديم: غيث صادق كيوان · GEN CODE TEAM · مدرسة السدرة الخاصة — كلباء</a:t>
            </a:r>
            <a:endParaRPr lang="ar-AE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saq">
  <a:themeElements>
    <a:clrScheme name="Nasaq">
      <a:dk1>
        <a:srgbClr val="EAF0FA"/>
      </a:dk1>
      <a:lt1>
        <a:srgbClr val="060A14"/>
      </a:lt1>
      <a:dk2>
        <a:srgbClr val="93A3BF"/>
      </a:dk2>
      <a:lt2>
        <a:srgbClr val="111827"/>
      </a:lt2>
      <a:accent1>
        <a:srgbClr val="FBBF24"/>
      </a:accent1>
      <a:accent2>
        <a:srgbClr val="2DD4BF"/>
      </a:accent2>
      <a:accent3>
        <a:srgbClr val="38BDF8"/>
      </a:accent3>
      <a:accent4>
        <a:srgbClr val="FB7185"/>
      </a:accent4>
      <a:accent5>
        <a:srgbClr val="34D399"/>
      </a:accent5>
      <a:accent6>
        <a:srgbClr val="A78BFA"/>
      </a:accent6>
      <a:hlink>
        <a:srgbClr val="38BDF8"/>
      </a:hlink>
      <a:folHlink>
        <a:srgbClr val="A78BFA"/>
      </a:folHlink>
    </a:clrScheme>
    <a:fontScheme name="Nasaq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 CODE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نَسَق — مولّد الجداول المدرسية الذكي</dc:title>
  <dc:subject>PptxGenJS Presentation</dc:subject>
  <dc:creator>GEN CODE TEAM</dc:creator>
  <cp:lastModifiedBy>GEN CODE TEAM</cp:lastModifiedBy>
  <cp:revision>1</cp:revision>
  <dcterms:created xsi:type="dcterms:W3CDTF">2026-10-07T04:33:50Z</dcterms:created>
  <dcterms:modified xsi:type="dcterms:W3CDTF">2026-10-07T04:33:50Z</dcterms:modified>
</cp:coreProperties>
</file>