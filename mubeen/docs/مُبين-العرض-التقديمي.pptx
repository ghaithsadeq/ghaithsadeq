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" id="{88aadc8d-4337-cb66-074e-e50911152015}">
          <p14:sldIdLst>
            <p14:sldId id="256"/>
          </p14:sldIdLst>
        </p14:section>
        <p14:section name="المشكلة" id="{831f421e-9e4a-5ffd-b11a-afe704ce4848}">
          <p14:sldIdLst>
            <p14:sldId id="257"/>
          </p14:sldIdLst>
        </p14:section>
        <p14:section name="الفكرة" id="{a0dcf896-20b5-8ac7-43ce-fb3a6905999e}">
          <p14:sldIdLst>
            <p14:sldId id="258"/>
            <p14:sldId id="259"/>
            <p14:sldId id="260"/>
          </p14:sldIdLst>
        </p14:section>
        <p14:section name="النموذج" id="{ae7289a6-b70e-9011-6aab-2af70ee129ca}">
          <p14:sldIdLst>
            <p14:sldId id="261"/>
            <p14:sldId id="262"/>
            <p14:sldId id="263"/>
            <p14:sldId id="264"/>
          </p14:sldIdLst>
        </p14:section>
        <p14:section name="الأرقام" id="{196ef233-951d-fb13-af93-fd761767c6dc}">
          <p14:sldIdLst>
            <p14:sldId id="265"/>
            <p14:sldId id="266"/>
          </p14:sldIdLst>
        </p14:section>
        <p14:section name="مايكروسوفت" id="{684eb5e3-f6ef-405e-994c-343bfb19713e}">
          <p14:sldIdLst>
            <p14:sldId id="267"/>
          </p14:sldIdLst>
        </p14:section>
        <p14:section name="الحدود" id="{90d9e302-a0f3-3446-6b13-b41eaa720000}">
          <p14:sldIdLst>
            <p14:sldId id="268"/>
            <p14:sldId id="269"/>
          </p14:sldIdLst>
        </p14:section>
        <p14:section name="الخلاصة" id="{8142593c-c637-5ac3-c3f9-5a5248dd944c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DEAE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DEAE4"/>
                </a:solidFill>
                <a:latin typeface="+mn-lt"/>
              </a:rPr>
              <a:t>متوسّط المؤشّر بحسب الصفّ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متوسّط مؤشّر البيان</c:v>
                </c:pt>
              </c:strCache>
            </c:strRef>
          </c:tx>
          <c:spPr>
            <a:solidFill>
              <a:srgbClr val="E8B6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DEAE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B6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8B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3D9A3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الصفّ 8-أ</c:v>
                  </c:pt>
                  <c:pt idx="1">
                    <c:v>الصفّ 9-ب</c:v>
                  </c:pt>
                  <c:pt idx="2">
                    <c:v>الصفّ 10-أ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50</c:v>
                </c:pt>
                <c:pt idx="2">
                  <c:v>59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DEAE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2AFB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3232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2AFB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F"/>
        </a:solidFill>
        <a:ln w="12700" cap="flat">
          <a:solidFill>
            <a:srgbClr val="0A0A0F"/>
          </a:solidFill>
        </a:ln>
        <a:effectLst/>
      </c:spPr>
    </c:plotArea>
    <c:plotVisOnly val="1"/>
    <c:dispBlanksAs val="span"/>
  </c:chart>
  <c:spPr>
    <a:solidFill>
      <a:srgbClr val="0A0A0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DEAE4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EDEAE4"/>
                </a:solidFill>
                <a:latin typeface="+mn-lt"/>
              </a:rPr>
              <a:t>توزيع الأخطاء على العائلات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عدد الأخطاء</c:v>
                </c:pt>
              </c:strCache>
            </c:strRef>
          </c:tx>
          <c:spPr>
            <a:solidFill>
              <a:srgbClr val="F270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EDEAE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الترقيم</c:v>
                  </c:pt>
                  <c:pt idx="1">
                    <c:v>التاء</c:v>
                  </c:pt>
                  <c:pt idx="2">
                    <c:v>العاميّة</c:v>
                  </c:pt>
                  <c:pt idx="3">
                    <c:v>همزة</c:v>
                  </c:pt>
                  <c:pt idx="4">
                    <c:v>الألف</c:v>
                  </c:pt>
                  <c:pt idx="5">
                    <c:v>إملاء</c:v>
                  </c:pt>
                  <c:pt idx="6">
                    <c:v>النحو</c:v>
                  </c:pt>
                  <c:pt idx="7">
                    <c:v>الهمزة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</c:v>
                </c:pt>
                <c:pt idx="1">
                  <c:v>25</c:v>
                </c:pt>
                <c:pt idx="2">
                  <c:v>10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  <c:pt idx="6">
                  <c:v>3</c:v>
                </c:pt>
                <c:pt idx="7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EDEAE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2AFB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232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B2AFB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F"/>
        </a:solidFill>
        <a:ln w="12700" cap="flat">
          <a:solidFill>
            <a:srgbClr val="0A0A0F"/>
          </a:solidFill>
        </a:ln>
        <a:effectLst/>
      </c:spPr>
    </c:plotArea>
    <c:plotVisOnly val="1"/>
    <c:dispBlanksAs val="span"/>
  </c:chart>
  <c:spPr>
    <a:solidFill>
      <a:srgbClr val="0A0A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 30 ثانية: اسم المشروع، ثم الجملة الواحدة: «مُبين محرّك يقرأ نصّ الطالب العربي، يكشف أخطاءه، ويشرح القاعدة وراء كل خطأ — ويعمل بلا إنترنت». ثم: «تفضّل اكتب أي جملة بنفسك».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المحكّم سيسأل: من المستفيد؟ الجواب: الطالب أولاً (يفهم القاعدة)، ثم المعلّم (يوفّر زمن الفرز)، ثم المدرسة (بيانات). لا تذكر أرقاماً لم نقِسها.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قال المحكّم «هذا مدقّق إملائي عادي»: الفرق أننا نشرح القاعدة ونبني بصمة ونولّد التمرين — المدقّق يصحّح، مُبين تُعلِّم. وكلّه بلا إنترنت.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هي ردّك على سؤال «هل هو ذكاء اصطناعي حقيقي أم واجهة؟» — اشرح أن القواعد صريحة ومكتوبة، وهذا أصدق من صندوق أسود، ويعمل دون إنترنت.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سألوا: لماذا دالّة كسرية وليست طرحاً خطيّاً؟ لأن الطرح الخطيّ يصفّر المؤشّر لأي نصّ مليء بالأخطاء، فيفقد القدرة على التمييز بين «ضعيف» و«ضعيف جداً».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هذه الجملة على الشاشة الحقيقية أمام المحكّم، ثم اطلب منه أن يكتب جملته بنفسه. هذه أقوى 20 ثانية في العرض كلّه.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سؤال متوقّع: ألا يُحبط هذا الطالب الضعيف؟ الجواب: لهذا لا نعرض ترتيباً تنافسياً، والمقارنة مع خطّ الأساس الشخصي فقط.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قويّة أمام جهة تربوية: هذه أوّل مرّة يُقاس فيها «تسرّب العاميّة» كمؤشّر رقميّ على مستوى مدرسة. اربطها بميثاق «عهد العربية» في الشارقة.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تقرأ الجدول رقماً رقماً. قل: «كل رقم هنا محسوب من نصّ الطالب الآن، لا مكتوب يدوياً» ثم أشِر إلى العمودين الأحمرين.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اضغط زرّ «أعد القياس» داخل التطبيق أمام المحكّم ليرى الرقم يُحتسب على جهازه. هذا الفرق بين «ندّعي» و«نُثبت».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إن سأل محكّم «هل قستم هذا فعلاً؟» قل فوراً: «لا. هذه نمذجة بافتراضات معلنة، والقياس الميداني مرحلة ثانية بموافقة رسمية من المدرسة وأولياء الأمور». الصدق هنا يرفع درجتك لا يخفضها.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لممثّل Microsoft في فعالية التشبيك. لا تبالغ: قل إنّ المخرجات تدخل بيئتهم اليوم، وإنّ Graph/Entra خطّة معلنة لا إنجاز.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وجود هذه الشريحة نفسه نقطة قوّة: المشروع الذي يعرف حدوده يبدو أصدق، والمحكّم الذي يصطاد مبالغة لن يجد ما يصطاده.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بدعوة لا بشكر: «تفضّل اكتب جملة». الزائر الذي يكتب بنفسه هو الزائر الذي يتذكّر الركن.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E8B9C"/>
                </a:solidFill>
              </a:rPr>
              <a:t>GEN CODE TEAM  ·  مدرسة السدرة الخاصة — كلباء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400" b="1" dirty="0">
                <a:solidFill>
                  <a:srgbClr val="E8B65A"/>
                </a:solidFill>
              </a:defRPr>
            </a:lvl1pPr>
          </a:lstStyle>
          <a:p>
            <a:pPr algn="r" indent="0" marL="0">
              <a:buNone/>
            </a:pPr>
            <a:endParaRPr lang="en-US" sz="3400" dirty="0"/>
          </a:p>
        </p:txBody>
      </p:sp>
      <p:pic>
        <p:nvPicPr>
          <p:cNvPr id="3" name="Image 0" descr="logos/logo-mub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6272784"/>
            <a:ext cx="274320" cy="2743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206240" y="63276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E8B9C"/>
                </a:solidFill>
              </a:rPr>
              <a:t>مُبين · الهاكاثون الطلابي «للعربية نبتكر»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212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B65A"/>
                </a:solidFill>
              </a:rPr>
              <a:t>مُبين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5120640" cy="5120640"/>
          </a:xfrm>
          <a:prstGeom prst="ellipse">
            <a:avLst/>
          </a:prstGeom>
          <a:solidFill>
            <a:srgbClr val="E8B65A">
              <a:alpha val="12000"/>
            </a:srgbClr>
          </a:solidFill>
          <a:ln w="12700">
            <a:solidFill>
              <a:srgbClr val="0A0A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840480"/>
            <a:ext cx="4206240" cy="4206240"/>
          </a:xfrm>
          <a:prstGeom prst="ellipse">
            <a:avLst/>
          </a:prstGeom>
          <a:solidFill>
            <a:srgbClr val="A98BF5">
              <a:alpha val="10000"/>
            </a:srgbClr>
          </a:solidFill>
          <a:ln w="12700">
            <a:solidFill>
              <a:srgbClr val="0A0A0F"/>
            </a:solidFill>
            <a:prstDash val="solid"/>
          </a:ln>
        </p:spPr>
      </p:sp>
      <p:pic>
        <p:nvPicPr>
          <p:cNvPr id="4" name="Image 0" descr="logos/logo-mub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502920"/>
            <a:ext cx="1600200" cy="1600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15468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تشخيص لغويّ عربيّ يعمل داخل المتصفّح — بلا إنترنت، وبلا مفتاح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نضع خطّاً أحمر تحت الخطأ — نشرح القاعدة، ونبني للطالب بصمة لغوية تقارنه بنفسه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144000" y="45262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B65A">
              <a:alpha val="15000"/>
            </a:srgbClr>
          </a:solidFill>
          <a:ln w="9525">
            <a:solidFill>
              <a:srgbClr val="E8B6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144000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نبتكر 2026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583680" y="45262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A98BF5">
              <a:alpha val="15000"/>
            </a:srgbClr>
          </a:solidFill>
          <a:ln w="9525">
            <a:solidFill>
              <a:srgbClr val="A98B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الفئة: طلبة المدارس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23360" y="45262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43D9A3">
              <a:alpha val="15000"/>
            </a:srgbClr>
          </a:solidFill>
          <a:ln w="9525">
            <a:solidFill>
              <a:srgbClr val="43D9A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023360" y="45262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دون اتصال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غيث صادق  ·  أحمد حمد  ·  تيم عامر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689336" y="5477256"/>
            <a:ext cx="9784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1" descr="logos/flat-hacka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5532120"/>
            <a:ext cx="868680" cy="4572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496044" y="5477256"/>
            <a:ext cx="1101852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2" descr="logos/flat-sp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908" y="5532120"/>
            <a:ext cx="992124" cy="4572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987284" y="5477256"/>
            <a:ext cx="14173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0" name="Image 3" descr="logos/flat-edufik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2148" y="5532120"/>
            <a:ext cx="1307592" cy="457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469380" y="5477256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0A0A0F"/>
          </a:solidFill>
          <a:ln w="12700">
            <a:solidFill>
              <a:srgbClr val="32323F"/>
            </a:solidFill>
            <a:prstDash val="dash"/>
          </a:ln>
        </p:spPr>
      </p:sp>
      <p:sp>
        <p:nvSpPr>
          <p:cNvPr id="22" name="Text 16"/>
          <p:cNvSpPr txBox="1"/>
          <p:nvPr/>
        </p:nvSpPr>
        <p:spPr>
          <a:xfrm>
            <a:off x="6469380" y="5477256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 مدرسة السدرة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الطالب يكتب خطأً، ويُصحَّح له الخطأ — ولا يتعلّم القاعدة</a:t>
            </a:r>
            <a:endParaRPr lang="en-US" sz="3400" dirty="0"/>
          </a:p>
        </p:txBody>
      </p:sp>
      <p:sp>
        <p:nvSpPr>
          <p:cNvPr id="3" name="card-9.55-1.4"/>
          <p:cNvSpPr/>
          <p:nvPr/>
        </p:nvSpPr>
        <p:spPr>
          <a:xfrm>
            <a:off x="8732520" y="1280160"/>
            <a:ext cx="2880360" cy="1536192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823960" y="138988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¾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823960" y="2029968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المدارس الخاصة سُجّل عليها قصور في العربية</a:t>
            </a:r>
            <a:endParaRPr lang="en-US" sz="1050" dirty="0"/>
          </a:p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(تقارير التفتيش — هيئة المعرفة، دبي)</a:t>
            </a:r>
            <a:endParaRPr lang="en-US" sz="1050" dirty="0"/>
          </a:p>
        </p:txBody>
      </p:sp>
      <p:sp>
        <p:nvSpPr>
          <p:cNvPr id="6" name="card-6.25-1.4"/>
          <p:cNvSpPr/>
          <p:nvPr/>
        </p:nvSpPr>
        <p:spPr>
          <a:xfrm>
            <a:off x="5715000" y="1280160"/>
            <a:ext cx="2880360" cy="1536192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06440" y="138988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5806440" y="2029968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أدوات تشخيص عربية تعمل</a:t>
            </a:r>
            <a:endParaRPr lang="en-US" sz="1050" dirty="0"/>
          </a:p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دون إنترنت في يد الطالب</a:t>
            </a:r>
            <a:endParaRPr lang="en-US" sz="1050" dirty="0"/>
          </a:p>
        </p:txBody>
      </p:sp>
      <p:sp>
        <p:nvSpPr>
          <p:cNvPr id="9" name="card-2.95-1.4"/>
          <p:cNvSpPr/>
          <p:nvPr/>
        </p:nvSpPr>
        <p:spPr>
          <a:xfrm>
            <a:off x="2697480" y="1280160"/>
            <a:ext cx="2880360" cy="1536192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389888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د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029968"/>
            <a:ext cx="26974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زمن تصحيح النصّ الواحد</a:t>
            </a:r>
            <a:endParaRPr lang="en-US" sz="1050" dirty="0"/>
          </a:p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يدويّاً (تقدير معلن)</a:t>
            </a:r>
            <a:endParaRPr lang="en-US" sz="1050" dirty="0"/>
          </a:p>
        </p:txBody>
      </p:sp>
      <p:sp>
        <p:nvSpPr>
          <p:cNvPr id="12" name="card-0.6-1.4"/>
          <p:cNvSpPr/>
          <p:nvPr/>
        </p:nvSpPr>
        <p:spPr>
          <a:xfrm>
            <a:off x="548640" y="1280160"/>
            <a:ext cx="2011680" cy="1536192"/>
          </a:xfrm>
          <a:prstGeom prst="roundRect">
            <a:avLst>
              <a:gd name="adj" fmla="val 714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13898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029968"/>
            <a:ext cx="18288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سبب جذريّ واحد:</a:t>
            </a:r>
            <a:endParaRPr lang="en-US" sz="1050" dirty="0"/>
          </a:p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التصحيح لا يُعلِّم</a:t>
            </a:r>
            <a:endParaRPr lang="en-US" sz="1050" dirty="0"/>
          </a:p>
        </p:txBody>
      </p:sp>
      <p:sp>
        <p:nvSpPr>
          <p:cNvPr id="15" name="card-6.25-3.32"/>
          <p:cNvSpPr/>
          <p:nvPr/>
        </p:nvSpPr>
        <p:spPr>
          <a:xfrm>
            <a:off x="5715000" y="3035808"/>
            <a:ext cx="5897880" cy="2971800"/>
          </a:xfrm>
          <a:prstGeom prst="roundRect">
            <a:avLst>
              <a:gd name="adj" fmla="val 3692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315468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يحدث اليوم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584448"/>
            <a:ext cx="54406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المعلّم يضع خطّاً أحمر — الطالب يرى العلامة لا السبب</a:t>
            </a:r>
            <a:endParaRPr lang="en-US" sz="1250" dirty="0"/>
          </a:p>
          <a:p>
            <a:pPr algn="r"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الخطأ نفسه يتكرّر في النصّ التالي، فلا أحد يتابعه</a:t>
            </a:r>
            <a:endParaRPr lang="en-US" sz="1250" dirty="0"/>
          </a:p>
          <a:p>
            <a:pPr algn="r"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التصحيح اليدويّ يستهلك ساعات المعلّم الأسبوعية</a:t>
            </a:r>
            <a:endParaRPr lang="en-US" sz="1250" dirty="0"/>
          </a:p>
          <a:p>
            <a:pPr algn="r"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العاميّة تتسرّب إلى الكتابة المدرسية بلا رصد</a:t>
            </a:r>
            <a:endParaRPr lang="en-US" sz="1250" dirty="0"/>
          </a:p>
          <a:p>
            <a:pPr algn="r" marL="342900" indent="-342900">
              <a:lnSpc>
                <a:spcPts val="2000"/>
              </a:lnSpc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 الأجنبية ترفع نصّ الطالب إلى خوادم خارجية</a:t>
            </a:r>
            <a:endParaRPr lang="en-US" sz="1250" dirty="0"/>
          </a:p>
        </p:txBody>
      </p:sp>
      <p:sp>
        <p:nvSpPr>
          <p:cNvPr id="18" name="card-0.6-3.32"/>
          <p:cNvSpPr/>
          <p:nvPr/>
        </p:nvSpPr>
        <p:spPr>
          <a:xfrm>
            <a:off x="548640" y="3035808"/>
            <a:ext cx="4983480" cy="2971800"/>
          </a:xfrm>
          <a:prstGeom prst="roundRect">
            <a:avLst>
              <a:gd name="adj" fmla="val 3692"/>
            </a:avLst>
          </a:prstGeom>
          <a:solidFill>
            <a:srgbClr val="1C1A14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546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الفراغ الذي نملؤه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65760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توجد أداة عربية تجيب عن السؤال الذي يسأله الطالب فعلاً:</a:t>
            </a:r>
            <a:endParaRPr lang="en-US" sz="1500" dirty="0"/>
          </a:p>
          <a:p>
            <a:pPr rtl="1" algn="r" indent="0" marL="0">
              <a:lnSpc>
                <a:spcPts val="2400"/>
              </a:lnSpc>
              <a:buNone/>
            </a:pPr>
            <a:endParaRPr lang="en-US" sz="1500" dirty="0"/>
          </a:p>
          <a:p>
            <a:pPr rtl="1" algn="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«ليش هذا غلط؟»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 تبدأ من هذا السؤال، لا من العلامة.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الفكرة في جملة واحدة</a:t>
            </a:r>
            <a:endParaRPr lang="en-US" sz="3400" dirty="0"/>
          </a:p>
        </p:txBody>
      </p:sp>
      <p:sp>
        <p:nvSpPr>
          <p:cNvPr id="3" name="card-0.6-1.5"/>
          <p:cNvSpPr/>
          <p:nvPr/>
        </p:nvSpPr>
        <p:spPr>
          <a:xfrm>
            <a:off x="548640" y="13716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C1A14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لغويّ عربيّ يقرأ نصّ الطالب، يرصد عشر عائلات من الأخطاء، يشرح القاعدة وراء كلّ خطأ، ويبني بصمة لغوية تتابع تطوّره — كلّ ذلك داخل المتصفّح، دون خادم ودون إنترنت.</a:t>
            </a:r>
            <a:endParaRPr lang="en-US" sz="2000" dirty="0"/>
          </a:p>
        </p:txBody>
      </p:sp>
      <p:sp>
        <p:nvSpPr>
          <p:cNvPr id="5" name="card-8.63-3.35"/>
          <p:cNvSpPr/>
          <p:nvPr/>
        </p:nvSpPr>
        <p:spPr>
          <a:xfrm>
            <a:off x="7891272" y="3063240"/>
            <a:ext cx="3538728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71632" y="3172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تشخيص لا تصحيح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074152" y="35661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 القاعدة النحوية أو الإملائية وراء كلّ خطأ، مع درجة ثقة</a:t>
            </a:r>
            <a:endParaRPr lang="en-US" sz="1100" dirty="0"/>
          </a:p>
        </p:txBody>
      </p:sp>
      <p:sp>
        <p:nvSpPr>
          <p:cNvPr id="9" name="card-4.6000000000000005-3.35"/>
          <p:cNvSpPr/>
          <p:nvPr/>
        </p:nvSpPr>
        <p:spPr>
          <a:xfrm>
            <a:off x="4206240" y="3063240"/>
            <a:ext cx="3538728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86600" y="3172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بصمة لغوية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5661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مهارات لكلّ طالب تقارنه بنفسه عبر الزمن، لا بزملائه</a:t>
            </a:r>
            <a:endParaRPr lang="en-US" sz="1100" dirty="0"/>
          </a:p>
        </p:txBody>
      </p:sp>
      <p:sp>
        <p:nvSpPr>
          <p:cNvPr id="13" name="card-0.5700000000000003-3.35"/>
          <p:cNvSpPr/>
          <p:nvPr/>
        </p:nvSpPr>
        <p:spPr>
          <a:xfrm>
            <a:off x="521208" y="3063240"/>
            <a:ext cx="3538728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01568" y="3172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317296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تمارين مولّدة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3566160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تُبنى من أخطاء الطالب نفسه — لا تمرين على ما يتقنه</a:t>
            </a:r>
            <a:endParaRPr lang="en-US" sz="1100" dirty="0"/>
          </a:p>
        </p:txBody>
      </p:sp>
      <p:sp>
        <p:nvSpPr>
          <p:cNvPr id="17" name="card-8.63-4.970000000000001"/>
          <p:cNvSpPr/>
          <p:nvPr/>
        </p:nvSpPr>
        <p:spPr>
          <a:xfrm>
            <a:off x="7891272" y="4544568"/>
            <a:ext cx="3538728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771632" y="4654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074152" y="46542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جسر الفصحى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074152" y="5047488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يرصد تسرّب العاميّة ويعطي المقابل الفصيح فوراً</a:t>
            </a:r>
            <a:endParaRPr lang="en-US" sz="1100" dirty="0"/>
          </a:p>
        </p:txBody>
      </p:sp>
      <p:sp>
        <p:nvSpPr>
          <p:cNvPr id="21" name="card-4.6000000000000005-4.970000000000001"/>
          <p:cNvSpPr/>
          <p:nvPr/>
        </p:nvSpPr>
        <p:spPr>
          <a:xfrm>
            <a:off x="4206240" y="4544568"/>
            <a:ext cx="3538728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4654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46542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المعلّم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5047488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حرارية للصفّ + خطّة حصّة مولّدة تلقائياً</a:t>
            </a:r>
            <a:endParaRPr lang="en-US" sz="1100" dirty="0"/>
          </a:p>
        </p:txBody>
      </p:sp>
      <p:sp>
        <p:nvSpPr>
          <p:cNvPr id="25" name="card-0.5700000000000003-4.970000000000001"/>
          <p:cNvSpPr/>
          <p:nvPr/>
        </p:nvSpPr>
        <p:spPr>
          <a:xfrm>
            <a:off x="521208" y="4544568"/>
            <a:ext cx="3538728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01568" y="4654296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" y="465429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خصوصية مطلقة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04088" y="5047488"/>
            <a:ext cx="31729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النصّ لا يغادر الجهاز: لا خادم، لا حساب، لا مفتاح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كيف يعمل المحرّك — أربع خطوات في 12 مللي ثانية</a:t>
            </a:r>
            <a:endParaRPr lang="en-US" sz="3400" dirty="0"/>
          </a:p>
        </p:txBody>
      </p:sp>
      <p:sp>
        <p:nvSpPr>
          <p:cNvPr id="3" name="card-0.6-1.42"/>
          <p:cNvSpPr/>
          <p:nvPr/>
        </p:nvSpPr>
        <p:spPr>
          <a:xfrm>
            <a:off x="548640" y="1298448"/>
            <a:ext cx="11064240" cy="1033272"/>
          </a:xfrm>
          <a:prstGeom prst="roundRect">
            <a:avLst>
              <a:gd name="adj" fmla="val 10619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1572768"/>
            <a:ext cx="512064" cy="512064"/>
          </a:xfrm>
          <a:prstGeom prst="ellipse">
            <a:avLst/>
          </a:prstGeom>
          <a:solidFill>
            <a:srgbClr val="E8B65A"/>
          </a:solidFill>
          <a:ln w="12700">
            <a:solidFill>
              <a:srgbClr val="E8B6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2708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التقطيع والتجريد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463040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يُقسَم النصّ إلى كلمات، وتُجرَّد من التشكيل والتطويل لتُطابَق على بنوك القواعد</a:t>
            </a:r>
            <a:endParaRPr lang="en-US" sz="1200" dirty="0"/>
          </a:p>
        </p:txBody>
      </p:sp>
      <p:sp>
        <p:nvSpPr>
          <p:cNvPr id="8" name="card-0.6-2.7"/>
          <p:cNvSpPr/>
          <p:nvPr/>
        </p:nvSpPr>
        <p:spPr>
          <a:xfrm>
            <a:off x="548640" y="2468880"/>
            <a:ext cx="11064240" cy="1033272"/>
          </a:xfrm>
          <a:prstGeom prst="roundRect">
            <a:avLst>
              <a:gd name="adj" fmla="val 10619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27080" y="2743200"/>
            <a:ext cx="512064" cy="512064"/>
          </a:xfrm>
          <a:prstGeom prst="ellipse">
            <a:avLst/>
          </a:prstGeom>
          <a:solidFill>
            <a:srgbClr val="A98BF5"/>
          </a:solidFill>
          <a:ln w="12700">
            <a:solidFill>
              <a:srgbClr val="A98B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27080" y="27432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633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المطابقة على القواعد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633472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511 مدخلاً في عشرة بنوك: همزة، تاء، ألف لينة، ضاد/ظاء، همزة متوسطة، إملاء، نحو، عاميّة، ترقيم، أسلوب</a:t>
            </a:r>
            <a:endParaRPr lang="en-US" sz="1200" dirty="0"/>
          </a:p>
        </p:txBody>
      </p:sp>
      <p:sp>
        <p:nvSpPr>
          <p:cNvPr id="13" name="card-0.6-3.98"/>
          <p:cNvSpPr/>
          <p:nvPr/>
        </p:nvSpPr>
        <p:spPr>
          <a:xfrm>
            <a:off x="548640" y="3639312"/>
            <a:ext cx="11064240" cy="1033272"/>
          </a:xfrm>
          <a:prstGeom prst="roundRect">
            <a:avLst>
              <a:gd name="adj" fmla="val 10619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27080" y="3913632"/>
            <a:ext cx="512064" cy="512064"/>
          </a:xfrm>
          <a:prstGeom prst="ellipse">
            <a:avLst/>
          </a:prstGeom>
          <a:solidFill>
            <a:srgbClr val="5FB8F0"/>
          </a:solidFill>
          <a:ln w="12700">
            <a:solidFill>
              <a:srgbClr val="5FB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2708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38039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الاستدلال السياقي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03904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تنظر إلى ما قبل الكلمة وما بعدها: جرّ جمع المذكّر، نصب إنّ، جزم الأفعال الخمسة، مخالفة العدد للمعدود</a:t>
            </a:r>
            <a:endParaRPr lang="en-US" sz="1200" dirty="0"/>
          </a:p>
        </p:txBody>
      </p:sp>
      <p:sp>
        <p:nvSpPr>
          <p:cNvPr id="18" name="card-0.6-5.26"/>
          <p:cNvSpPr/>
          <p:nvPr/>
        </p:nvSpPr>
        <p:spPr>
          <a:xfrm>
            <a:off x="548640" y="4809744"/>
            <a:ext cx="11064240" cy="1033272"/>
          </a:xfrm>
          <a:prstGeom prst="roundRect">
            <a:avLst>
              <a:gd name="adj" fmla="val 10619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27080" y="5084064"/>
            <a:ext cx="512064" cy="512064"/>
          </a:xfrm>
          <a:prstGeom prst="ellipse">
            <a:avLst/>
          </a:prstGeom>
          <a:solidFill>
            <a:srgbClr val="43D9A3"/>
          </a:solidFill>
          <a:ln w="12700">
            <a:solidFill>
              <a:srgbClr val="43D9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27080" y="50840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49743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الحساب والبناء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74336"/>
            <a:ext cx="6446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 البيان = دالّة كثافة الأخطاء الموزونة، ثم تُبنى البصمة والتمارين وخطّة الحصّة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03504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حقيقيّ على جهاز العرض: 10.72 مللي ثانية لتحليل 8540 كلمة  ≈  796,642 كلمة/ثانية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عشر عائلات قواعد — بأوزان تضبطها المدرسة نفسها</a:t>
            </a:r>
            <a:endParaRPr lang="en-US" sz="3400" dirty="0"/>
          </a:p>
        </p:txBody>
      </p:sp>
      <p:sp>
        <p:nvSpPr>
          <p:cNvPr id="3" name="card-10.33-1.6"/>
          <p:cNvSpPr/>
          <p:nvPr/>
        </p:nvSpPr>
        <p:spPr>
          <a:xfrm>
            <a:off x="9445752" y="146304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555480" y="15727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 / ا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537192" y="201168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همزة القطع والوصل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537192" y="2350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3</a:t>
            </a:r>
            <a:endParaRPr lang="en-US" sz="1050" dirty="0"/>
          </a:p>
        </p:txBody>
      </p:sp>
      <p:sp>
        <p:nvSpPr>
          <p:cNvPr id="7" name="card-7.890000000000001-1.6"/>
          <p:cNvSpPr/>
          <p:nvPr/>
        </p:nvSpPr>
        <p:spPr>
          <a:xfrm>
            <a:off x="7214616" y="146304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24344" y="15727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ة / ه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06056" y="201168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التاء المربوطة والهاء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306056" y="2350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3</a:t>
            </a:r>
            <a:endParaRPr lang="en-US" sz="1050" dirty="0"/>
          </a:p>
        </p:txBody>
      </p:sp>
      <p:sp>
        <p:nvSpPr>
          <p:cNvPr id="11" name="card-5.45-1.6"/>
          <p:cNvSpPr/>
          <p:nvPr/>
        </p:nvSpPr>
        <p:spPr>
          <a:xfrm>
            <a:off x="4983480" y="146304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93208" y="15727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ى / ي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201168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الألف اللينة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2350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2.5</a:t>
            </a:r>
            <a:endParaRPr lang="en-US" sz="1050" dirty="0"/>
          </a:p>
        </p:txBody>
      </p:sp>
      <p:sp>
        <p:nvSpPr>
          <p:cNvPr id="15" name="card-3.01-1.6"/>
          <p:cNvSpPr/>
          <p:nvPr/>
        </p:nvSpPr>
        <p:spPr>
          <a:xfrm>
            <a:off x="2752344" y="146304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62072" y="15727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 / 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2843784" y="201168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الضاد والظاء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843784" y="2350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3</a:t>
            </a:r>
            <a:endParaRPr lang="en-US" sz="1050" dirty="0"/>
          </a:p>
        </p:txBody>
      </p:sp>
      <p:sp>
        <p:nvSpPr>
          <p:cNvPr id="19" name="card-0.5700000000000003-1.6"/>
          <p:cNvSpPr/>
          <p:nvPr/>
        </p:nvSpPr>
        <p:spPr>
          <a:xfrm>
            <a:off x="521208" y="146304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936" y="157276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ئ ؤ أ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" y="201168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الهمزة المتوسطة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23500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3</a:t>
            </a:r>
            <a:endParaRPr lang="en-US" sz="1050" dirty="0"/>
          </a:p>
        </p:txBody>
      </p:sp>
      <p:sp>
        <p:nvSpPr>
          <p:cNvPr id="23" name="card-10.33-3.1500000000000004"/>
          <p:cNvSpPr/>
          <p:nvPr/>
        </p:nvSpPr>
        <p:spPr>
          <a:xfrm>
            <a:off x="9445752" y="288036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555480" y="299008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هاذا ← هذا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537192" y="342900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إملاء شائع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537192" y="37673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2.5</a:t>
            </a:r>
            <a:endParaRPr lang="en-US" sz="1050" dirty="0"/>
          </a:p>
        </p:txBody>
      </p:sp>
      <p:sp>
        <p:nvSpPr>
          <p:cNvPr id="27" name="card-7.890000000000001-3.1500000000000004"/>
          <p:cNvSpPr/>
          <p:nvPr/>
        </p:nvSpPr>
        <p:spPr>
          <a:xfrm>
            <a:off x="7214616" y="288036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24344" y="299008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 · نصب · جزم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306056" y="342900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النحو والإعراب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7306056" y="37673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4</a:t>
            </a:r>
            <a:endParaRPr lang="en-US" sz="1050" dirty="0"/>
          </a:p>
        </p:txBody>
      </p:sp>
      <p:sp>
        <p:nvSpPr>
          <p:cNvPr id="31" name="card-5.45-3.1500000000000004"/>
          <p:cNvSpPr/>
          <p:nvPr/>
        </p:nvSpPr>
        <p:spPr>
          <a:xfrm>
            <a:off x="4983480" y="288036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93208" y="299008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بدي ← أريد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342900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العاميّة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074920" y="37673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2</a:t>
            </a:r>
            <a:endParaRPr lang="en-US" sz="1050" dirty="0"/>
          </a:p>
        </p:txBody>
      </p:sp>
      <p:sp>
        <p:nvSpPr>
          <p:cNvPr id="35" name="card-3.01-3.1500000000000004"/>
          <p:cNvSpPr/>
          <p:nvPr/>
        </p:nvSpPr>
        <p:spPr>
          <a:xfrm>
            <a:off x="2752344" y="288036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62072" y="299008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 ؛ ؟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2843784" y="342900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الترقيم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2843784" y="37673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1</a:t>
            </a:r>
            <a:endParaRPr lang="en-US" sz="1050" dirty="0"/>
          </a:p>
        </p:txBody>
      </p:sp>
      <p:sp>
        <p:nvSpPr>
          <p:cNvPr id="39" name="card-0.5700000000000003-3.1500000000000004"/>
          <p:cNvSpPr/>
          <p:nvPr/>
        </p:nvSpPr>
        <p:spPr>
          <a:xfrm>
            <a:off x="521208" y="2880360"/>
            <a:ext cx="2130552" cy="1261872"/>
          </a:xfrm>
          <a:prstGeom prst="roundRect">
            <a:avLst>
              <a:gd name="adj" fmla="val 869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0936" y="2990088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طول الجملة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" y="3429000"/>
            <a:ext cx="1947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الأسلوب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12648" y="37673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وزن 1</a:t>
            </a:r>
            <a:endParaRPr lang="en-US" sz="1050" dirty="0"/>
          </a:p>
        </p:txBody>
      </p:sp>
      <p:sp>
        <p:nvSpPr>
          <p:cNvPr id="43" name="card-0.6-4.85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141420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2960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الوزن يحدّد أثر الخطأ في مؤشّر البيان. القيم أعلاه هي الافتراضيّة — وكلّ مدرسة تُعدّلها من لوحة المعايرة داخل التطبيق، لأنّ أولويّات الصفّ الرابع ليست أولويّات الصفّ العاشر.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822960" y="523036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 البيان = 100 ÷ (1 + كثافة الأخطاء الموزونة ÷ 30)    ·    كثافة = (مجموع الأخطاء × أوزانها) ÷ عدد الكلمات × 100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مثال حقيقيّ من المحرّك — تسع ملاحظات في جملة واحدة</a:t>
            </a:r>
            <a:endParaRPr lang="en-US" sz="3400" dirty="0"/>
          </a:p>
        </p:txBody>
      </p:sp>
      <p:sp>
        <p:nvSpPr>
          <p:cNvPr id="3" name="card-0.6-1.45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201418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النصّ المُدخَل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انا بدي اروح الي المدرسه كتير , شو هاذا النضام ؟</a:t>
            </a:r>
            <a:endParaRPr lang="en-US" sz="2100" dirty="0"/>
          </a:p>
        </p:txBody>
      </p:sp>
      <p:sp>
        <p:nvSpPr>
          <p:cNvPr id="6" name="card-8.63-2.85"/>
          <p:cNvSpPr/>
          <p:nvPr/>
        </p:nvSpPr>
        <p:spPr>
          <a:xfrm>
            <a:off x="7891272" y="2606040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28432" y="2679192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انا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أنا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28432" y="3008376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همزة قطع ناقصة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028432" y="32369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همزة القطع تُكتب (أ) أو (إ) وتُنطق في بدء الكلام ووصله</a:t>
            </a:r>
            <a:endParaRPr lang="en-US" sz="950" dirty="0"/>
          </a:p>
        </p:txBody>
      </p:sp>
      <p:sp>
        <p:nvSpPr>
          <p:cNvPr id="10" name="card-4.6000000000000005-2.85"/>
          <p:cNvSpPr/>
          <p:nvPr/>
        </p:nvSpPr>
        <p:spPr>
          <a:xfrm>
            <a:off x="4206240" y="2606040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2679192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بدي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أريد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008376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لفظ عامّي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2369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لكلّ مقام مقال — وهذا مقام الفصحى</a:t>
            </a:r>
            <a:endParaRPr lang="en-US" sz="950" dirty="0"/>
          </a:p>
        </p:txBody>
      </p:sp>
      <p:sp>
        <p:nvSpPr>
          <p:cNvPr id="14" name="card-0.5700000000000003-2.85"/>
          <p:cNvSpPr/>
          <p:nvPr/>
        </p:nvSpPr>
        <p:spPr>
          <a:xfrm>
            <a:off x="521208" y="2606040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679192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الي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إلى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3008376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ألف لينة كُتبت ياءً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3236976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(إلى، على، حتى، متى) بالألف المقصورة دائماً</a:t>
            </a:r>
            <a:endParaRPr lang="en-US" sz="950" dirty="0"/>
          </a:p>
        </p:txBody>
      </p:sp>
      <p:sp>
        <p:nvSpPr>
          <p:cNvPr id="18" name="card-8.63-4.07"/>
          <p:cNvSpPr/>
          <p:nvPr/>
        </p:nvSpPr>
        <p:spPr>
          <a:xfrm>
            <a:off x="7891272" y="3721608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28432" y="3794760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المدرسه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المدرسة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8028432" y="4123944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هاء في موضع تاء مربوطة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028432" y="4352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نوّن الكلمة: إن سمعت التاء فهي (ة)</a:t>
            </a:r>
            <a:endParaRPr lang="en-US" sz="950" dirty="0"/>
          </a:p>
        </p:txBody>
      </p:sp>
      <p:sp>
        <p:nvSpPr>
          <p:cNvPr id="22" name="card-4.6000000000000005-4.07"/>
          <p:cNvSpPr/>
          <p:nvPr/>
        </p:nvSpPr>
        <p:spPr>
          <a:xfrm>
            <a:off x="4206240" y="3721608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343400" y="3794760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كتير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كثير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4123944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لفظ عامّي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4352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إبدال الثاء تاءً من سمات العاميّة الشاميّة</a:t>
            </a:r>
            <a:endParaRPr lang="en-US" sz="950" dirty="0"/>
          </a:p>
        </p:txBody>
      </p:sp>
      <p:sp>
        <p:nvSpPr>
          <p:cNvPr id="26" name="card-0.5700000000000003-4.07"/>
          <p:cNvSpPr/>
          <p:nvPr/>
        </p:nvSpPr>
        <p:spPr>
          <a:xfrm>
            <a:off x="521208" y="3721608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3794760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،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4123944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فاصلة لاتينية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43525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لها فاصلتها الخاصّة (،)</a:t>
            </a:r>
            <a:endParaRPr lang="en-US" sz="950" dirty="0"/>
          </a:p>
        </p:txBody>
      </p:sp>
      <p:sp>
        <p:nvSpPr>
          <p:cNvPr id="30" name="card-8.63-5.29"/>
          <p:cNvSpPr/>
          <p:nvPr/>
        </p:nvSpPr>
        <p:spPr>
          <a:xfrm>
            <a:off x="7891272" y="4837176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28432" y="4910328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/ ماذا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028432" y="523951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لفظ عامّي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028432" y="5468112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استفهام عاميّة</a:t>
            </a:r>
            <a:endParaRPr lang="en-US" sz="950" dirty="0"/>
          </a:p>
        </p:txBody>
      </p:sp>
      <p:sp>
        <p:nvSpPr>
          <p:cNvPr id="34" name="card-4.6000000000000005-5.29"/>
          <p:cNvSpPr/>
          <p:nvPr/>
        </p:nvSpPr>
        <p:spPr>
          <a:xfrm>
            <a:off x="4206240" y="4837176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43400" y="4910328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هاذا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هذا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523951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خطأ إملائيّ شائع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4343400" y="5468112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تُزاد ألف بعد الهاء في (هذا)</a:t>
            </a:r>
            <a:endParaRPr lang="en-US" sz="950" dirty="0"/>
          </a:p>
        </p:txBody>
      </p:sp>
      <p:sp>
        <p:nvSpPr>
          <p:cNvPr id="38" name="card-0.5700000000000003-5.29"/>
          <p:cNvSpPr/>
          <p:nvPr/>
        </p:nvSpPr>
        <p:spPr>
          <a:xfrm>
            <a:off x="521208" y="4837176"/>
            <a:ext cx="3538728" cy="987552"/>
          </a:xfrm>
          <a:prstGeom prst="roundRect">
            <a:avLst>
              <a:gd name="adj" fmla="val 11111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8368" y="4910328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strike="sngStrike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pPr algn="r" indent="0" marL="0">
              <a:buNone/>
            </a:pPr>
            <a:r>
              <a:rPr lang="en-US" sz="15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←  </a:t>
            </a:r>
            <a:pPr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؟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5239512"/>
            <a:ext cx="3264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مسافة قبل علامة الترقيم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5468112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العلامة تلتصق بما قبلها وتليها مسافة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 البيان لهذه الجملة: 13 / 100  ·  أولويّة التدخّل: العاميّة ثم التاء المربوطة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البصمة اللغوية — نقارن الطالب بنفسه، لا بزملائه</a:t>
            </a:r>
            <a:endParaRPr lang="en-US" sz="3400" dirty="0"/>
          </a:p>
        </p:txBody>
      </p:sp>
      <p:sp>
        <p:nvSpPr>
          <p:cNvPr id="3" name="card-6.6-1.45"/>
          <p:cNvSpPr/>
          <p:nvPr/>
        </p:nvSpPr>
        <p:spPr>
          <a:xfrm>
            <a:off x="6035040" y="1325880"/>
            <a:ext cx="5577840" cy="4572000"/>
          </a:xfrm>
          <a:prstGeom prst="roundRect">
            <a:avLst>
              <a:gd name="adj" fmla="val 24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63640" y="146304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خريطة إتقان المدرسة في النموذج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052560" y="188366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التاء المربوطة والهاء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12280" y="1975104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80096" y="1975104"/>
            <a:ext cx="881024" cy="128016"/>
          </a:xfrm>
          <a:prstGeom prst="roundRect">
            <a:avLst>
              <a:gd name="adj" fmla="val 50000"/>
            </a:avLst>
          </a:prstGeom>
          <a:solidFill>
            <a:srgbClr val="F2707A"/>
          </a:solidFill>
          <a:ln w="12700">
            <a:solidFill>
              <a:srgbClr val="F27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63640" y="188366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2128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همزة القطع والوصل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12280" y="2304288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64374" y="2304288"/>
            <a:ext cx="1396746" cy="128016"/>
          </a:xfrm>
          <a:prstGeom prst="roundRect">
            <a:avLst>
              <a:gd name="adj" fmla="val 50000"/>
            </a:avLst>
          </a:prstGeom>
          <a:solidFill>
            <a:srgbClr val="F0A94C"/>
          </a:solidFill>
          <a:ln w="12700">
            <a:solidFill>
              <a:srgbClr val="F0A9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22128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54203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الترقيم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12280" y="2633472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64374" y="2633472"/>
            <a:ext cx="1396746" cy="128016"/>
          </a:xfrm>
          <a:prstGeom prst="roundRect">
            <a:avLst>
              <a:gd name="adj" fmla="val 50000"/>
            </a:avLst>
          </a:prstGeom>
          <a:solidFill>
            <a:srgbClr val="F0A94C"/>
          </a:solidFill>
          <a:ln w="12700">
            <a:solidFill>
              <a:srgbClr val="F0A9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5420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87121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الألف اللينة (ى/ي)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962656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13955" y="2962656"/>
            <a:ext cx="1547165" cy="128016"/>
          </a:xfrm>
          <a:prstGeom prst="roundRect">
            <a:avLst>
              <a:gd name="adj" fmla="val 50000"/>
            </a:avLst>
          </a:prstGeom>
          <a:solidFill>
            <a:srgbClr val="E8B65A"/>
          </a:solidFill>
          <a:ln w="12700">
            <a:solidFill>
              <a:srgbClr val="E8B6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87121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32004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العاميّة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12280" y="3291840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13955" y="3291840"/>
            <a:ext cx="1547165" cy="128016"/>
          </a:xfrm>
          <a:prstGeom prst="roundRect">
            <a:avLst>
              <a:gd name="adj" fmla="val 50000"/>
            </a:avLst>
          </a:prstGeom>
          <a:solidFill>
            <a:srgbClr val="E8B65A"/>
          </a:solidFill>
          <a:ln w="12700">
            <a:solidFill>
              <a:srgbClr val="E8B6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6364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352958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إملاء شائع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12280" y="3621024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06513" y="3621024"/>
            <a:ext cx="1654607" cy="128016"/>
          </a:xfrm>
          <a:prstGeom prst="roundRect">
            <a:avLst>
              <a:gd name="adj" fmla="val 50000"/>
            </a:avLst>
          </a:prstGeom>
          <a:solidFill>
            <a:srgbClr val="E8B65A"/>
          </a:solidFill>
          <a:ln w="12700">
            <a:solidFill>
              <a:srgbClr val="E8B6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35295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9052560" y="385876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النحو والإعراب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812280" y="3950208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20560" y="3950208"/>
            <a:ext cx="1740560" cy="128016"/>
          </a:xfrm>
          <a:prstGeom prst="roundRect">
            <a:avLst>
              <a:gd name="adj" fmla="val 50000"/>
            </a:avLst>
          </a:prstGeom>
          <a:solidFill>
            <a:srgbClr val="E8B65A"/>
          </a:solidFill>
          <a:ln w="12700">
            <a:solidFill>
              <a:srgbClr val="E8B65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63640" y="385876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052560" y="418795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الهمزة المتوسطة والمتطرفة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12280" y="4279392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27164" y="4279392"/>
            <a:ext cx="1933956" cy="128016"/>
          </a:xfrm>
          <a:prstGeom prst="roundRect">
            <a:avLst>
              <a:gd name="adj" fmla="val 50000"/>
            </a:avLst>
          </a:prstGeom>
          <a:solidFill>
            <a:srgbClr val="43D9A3"/>
          </a:solidFill>
          <a:ln w="12700">
            <a:solidFill>
              <a:srgbClr val="43D9A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4187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451713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الضاد والظاء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12280" y="4608576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4608576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43D9A3"/>
          </a:solidFill>
          <a:ln w="12700">
            <a:solidFill>
              <a:srgbClr val="43D9A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51713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052560" y="48463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الأسلوب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812280" y="4937760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>
            <a:solidFill>
              <a:srgbClr val="26262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812280" y="4937760"/>
            <a:ext cx="2148840" cy="128016"/>
          </a:xfrm>
          <a:prstGeom prst="roundRect">
            <a:avLst>
              <a:gd name="adj" fmla="val 50000"/>
            </a:avLst>
          </a:prstGeom>
          <a:solidFill>
            <a:srgbClr val="43D9A3"/>
          </a:solidFill>
          <a:ln w="12700">
            <a:solidFill>
              <a:srgbClr val="43D9A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63640" y="4846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6263640" y="532180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أضعف ثلاث عائلات على مستوى المدرسة: التاء المربوطة والهاء · همزة القطع والوصل · الترقيم — وهذه تُعالَج ببرنامج مدرسيّ موحّد لا بجهد معلّم منفرد.</a:t>
            </a:r>
            <a:endParaRPr lang="en-US" sz="1050" dirty="0"/>
          </a:p>
        </p:txBody>
      </p:sp>
      <p:sp>
        <p:nvSpPr>
          <p:cNvPr id="46" name="card-0.6-1.45"/>
          <p:cNvSpPr/>
          <p:nvPr/>
        </p:nvSpPr>
        <p:spPr>
          <a:xfrm>
            <a:off x="548640" y="132588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41420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7240" y="14630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تحتويه البصمة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77240" y="1874520"/>
            <a:ext cx="4892040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درجة إتقان لكلّ عائلة من العشر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مسار زمنيّ (خطّ تطوّر) لكلّ نصّ يكتبه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أولويّاته الثلاث الآن، مرتّبة بالأثر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عدد الملاحظات لكلّ 100 كلمة</a:t>
            </a:r>
            <a:endParaRPr lang="en-US" sz="1200" dirty="0"/>
          </a:p>
        </p:txBody>
      </p:sp>
      <p:sp>
        <p:nvSpPr>
          <p:cNvPr id="49" name="card-0.6-3.95"/>
          <p:cNvSpPr/>
          <p:nvPr/>
        </p:nvSpPr>
        <p:spPr>
          <a:xfrm>
            <a:off x="548640" y="3611880"/>
            <a:ext cx="5349240" cy="2286000"/>
          </a:xfrm>
          <a:prstGeom prst="roundRect">
            <a:avLst>
              <a:gd name="adj" fmla="val 48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77240" y="3749040"/>
            <a:ext cx="4892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البصمة إلى التمرين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777240" y="416052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المحرّك ستّة تمارين من أضعف ثلاث عائلات في بصمة الطالب تحديداً. لا تمرين عامّ، ولا تمرين على قاعدة يتقنها أصلاً.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777240" y="50292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«نقارنك بنفسك لا بغيرك» — مبدأ تصميميّ، لا شعار: لا يوجد ترتيب تنافسيّ بين الطلبة في أيّ شاشة.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جسر الفصحى — العاميّة ليست عدوّة، لكنّ لها مقامها</a:t>
            </a:r>
            <a:endParaRPr lang="en-US" sz="3400" dirty="0"/>
          </a:p>
        </p:txBody>
      </p:sp>
      <p:sp>
        <p:nvSpPr>
          <p:cNvPr id="3" name="card-0.6-1.45"/>
          <p:cNvSpPr/>
          <p:nvPr/>
        </p:nvSpPr>
        <p:spPr>
          <a:xfrm>
            <a:off x="548640" y="1325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A1626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العاميّة لسان البيت، والفصحى لسان العلم. المشكلة ليست أنّ الطالب يتكلّم العاميّة — بل أنّه لا يعرف أين ينتهي مقامها.</a:t>
            </a:r>
            <a:endParaRPr lang="en-US" sz="1600" dirty="0"/>
          </a:p>
        </p:txBody>
      </p:sp>
      <p:sp>
        <p:nvSpPr>
          <p:cNvPr id="5" name="card-9.72-2.7"/>
          <p:cNvSpPr/>
          <p:nvPr/>
        </p:nvSpPr>
        <p:spPr>
          <a:xfrm>
            <a:off x="8887968" y="2468880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97696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شو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/ ماذا</a:t>
            </a:r>
            <a:endParaRPr lang="en-US" sz="1400" dirty="0"/>
          </a:p>
        </p:txBody>
      </p:sp>
      <p:sp>
        <p:nvSpPr>
          <p:cNvPr id="7" name="card-6.680000000000001-2.7"/>
          <p:cNvSpPr/>
          <p:nvPr/>
        </p:nvSpPr>
        <p:spPr>
          <a:xfrm>
            <a:off x="6108192" y="2468880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بدي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أريد</a:t>
            </a:r>
            <a:endParaRPr lang="en-US" sz="1400" dirty="0"/>
          </a:p>
        </p:txBody>
      </p:sp>
      <p:sp>
        <p:nvSpPr>
          <p:cNvPr id="9" name="card-3.6400000000000006-2.7"/>
          <p:cNvSpPr/>
          <p:nvPr/>
        </p:nvSpPr>
        <p:spPr>
          <a:xfrm>
            <a:off x="3328416" y="2468880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38144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ليش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</a:t>
            </a:r>
            <a:endParaRPr lang="en-US" sz="1400" dirty="0"/>
          </a:p>
        </p:txBody>
      </p:sp>
      <p:sp>
        <p:nvSpPr>
          <p:cNvPr id="11" name="card-0.5999999999999996-2.7"/>
          <p:cNvSpPr/>
          <p:nvPr/>
        </p:nvSpPr>
        <p:spPr>
          <a:xfrm>
            <a:off x="548640" y="2468880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" y="25603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هلق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</a:t>
            </a:r>
            <a:endParaRPr lang="en-US" sz="1400" dirty="0"/>
          </a:p>
        </p:txBody>
      </p:sp>
      <p:sp>
        <p:nvSpPr>
          <p:cNvPr id="13" name="card-9.72-3.62"/>
          <p:cNvSpPr/>
          <p:nvPr/>
        </p:nvSpPr>
        <p:spPr>
          <a:xfrm>
            <a:off x="8887968" y="3310128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97696" y="3401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كتير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كثير</a:t>
            </a:r>
            <a:endParaRPr lang="en-US" sz="1400" dirty="0"/>
          </a:p>
        </p:txBody>
      </p:sp>
      <p:sp>
        <p:nvSpPr>
          <p:cNvPr id="15" name="card-6.680000000000001-3.62"/>
          <p:cNvSpPr/>
          <p:nvPr/>
        </p:nvSpPr>
        <p:spPr>
          <a:xfrm>
            <a:off x="6108192" y="3310128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3401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وين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أين</a:t>
            </a:r>
            <a:endParaRPr lang="en-US" sz="1400" dirty="0"/>
          </a:p>
        </p:txBody>
      </p:sp>
      <p:sp>
        <p:nvSpPr>
          <p:cNvPr id="17" name="card-3.6400000000000006-3.62"/>
          <p:cNvSpPr/>
          <p:nvPr/>
        </p:nvSpPr>
        <p:spPr>
          <a:xfrm>
            <a:off x="3328416" y="3310128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38144" y="3401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مش / مو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ليس</a:t>
            </a:r>
            <a:endParaRPr lang="en-US" sz="1400" dirty="0"/>
          </a:p>
        </p:txBody>
      </p:sp>
      <p:sp>
        <p:nvSpPr>
          <p:cNvPr id="19" name="card-0.5999999999999996-3.62"/>
          <p:cNvSpPr/>
          <p:nvPr/>
        </p:nvSpPr>
        <p:spPr>
          <a:xfrm>
            <a:off x="548640" y="3310128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4015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عشان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لأنّ / كي</a:t>
            </a:r>
            <a:endParaRPr lang="en-US" sz="1400" dirty="0"/>
          </a:p>
        </p:txBody>
      </p:sp>
      <p:sp>
        <p:nvSpPr>
          <p:cNvPr id="21" name="card-9.72-4.54"/>
          <p:cNvSpPr/>
          <p:nvPr/>
        </p:nvSpPr>
        <p:spPr>
          <a:xfrm>
            <a:off x="8887968" y="4151376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97696" y="4242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هيك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هكذا</a:t>
            </a:r>
            <a:endParaRPr lang="en-US" sz="1400" dirty="0"/>
          </a:p>
        </p:txBody>
      </p:sp>
      <p:sp>
        <p:nvSpPr>
          <p:cNvPr id="23" name="card-6.680000000000001-4.54"/>
          <p:cNvSpPr/>
          <p:nvPr/>
        </p:nvSpPr>
        <p:spPr>
          <a:xfrm>
            <a:off x="6108192" y="4151376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0" y="4242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عايز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أريد</a:t>
            </a:r>
            <a:endParaRPr lang="en-US" sz="1400" dirty="0"/>
          </a:p>
        </p:txBody>
      </p:sp>
      <p:sp>
        <p:nvSpPr>
          <p:cNvPr id="25" name="card-3.6400000000000006-4.54"/>
          <p:cNvSpPr/>
          <p:nvPr/>
        </p:nvSpPr>
        <p:spPr>
          <a:xfrm>
            <a:off x="3328416" y="4151376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38144" y="4242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دلوقتي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</a:t>
            </a:r>
            <a:endParaRPr lang="en-US" sz="1400" dirty="0"/>
          </a:p>
        </p:txBody>
      </p:sp>
      <p:sp>
        <p:nvSpPr>
          <p:cNvPr id="27" name="card-0.5999999999999996-4.54"/>
          <p:cNvSpPr/>
          <p:nvPr/>
        </p:nvSpPr>
        <p:spPr>
          <a:xfrm>
            <a:off x="548640" y="4151376"/>
            <a:ext cx="2688336" cy="713232"/>
          </a:xfrm>
          <a:prstGeom prst="roundRect">
            <a:avLst>
              <a:gd name="adj" fmla="val 1538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24281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شلونك</a:t>
            </a:r>
            <a:pPr algn="ctr" indent="0" marL="0">
              <a:buNone/>
            </a:pPr>
            <a:r>
              <a:rPr lang="en-US" sz="14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←   </a:t>
            </a:r>
            <a:pPr algn="ct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حالك</a:t>
            </a:r>
            <a:endParaRPr lang="en-US" sz="1400" dirty="0"/>
          </a:p>
        </p:txBody>
      </p:sp>
      <p:sp>
        <p:nvSpPr>
          <p:cNvPr id="29" name="card-0.6-5.55"/>
          <p:cNvSpPr/>
          <p:nvPr/>
        </p:nvSpPr>
        <p:spPr>
          <a:xfrm>
            <a:off x="548640" y="507492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141420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2960" y="519379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المعجم الحالي: 10 عائلة قواعد · 511 مدخلاً إجمالاً · منها معجم عاميّة شاميّ وخليجيّ ومصريّ — ويُرصد التسرّب على مستوى المدرسة لتُبنى عليه خطّة لغوية.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لوحة المعلّم — خريطة حرارية تحوّل التصحيح إلى قرار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859536"/>
                <a:gridCol w="95097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الطالب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همزة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ألف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ضاد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همزة 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إملاء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نحو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عاميّة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ترقيم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المؤشّر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سلمى الحوسني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راشد المرزوقي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جنى عبدالله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عمر الكعبي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ليان خالد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حمدان الكعبي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مريم الزعابي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يوسف النقبي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DEAE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232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922"/>
                    </a:solidFill>
                  </a:tcPr>
                </a:tc>
              </a:tr>
            </a:tbl>
          </a:graphicData>
        </a:graphic>
      </p:graphicFrame>
      <p:sp>
        <p:nvSpPr>
          <p:cNvPr id="4" name="card-0.6-5.5"/>
          <p:cNvSpPr/>
          <p:nvPr/>
        </p:nvSpPr>
        <p:spPr>
          <a:xfrm>
            <a:off x="548640" y="502920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141420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120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تُقرأ؟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5440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عمود مرتفع كلّه = قاعدة تُشرح للصفّ كاملاً. صفّ مرتفع لطالب واحد = تدخّل فرديّ. هذا هو القرار الذي كان مفقوداً.</a:t>
            </a:r>
            <a:endParaRPr lang="en-US" sz="1150" dirty="0"/>
          </a:p>
        </p:txBody>
      </p:sp>
      <p:sp>
        <p:nvSpPr>
          <p:cNvPr id="7" name="card-6.8-5.5"/>
          <p:cNvSpPr/>
          <p:nvPr/>
        </p:nvSpPr>
        <p:spPr>
          <a:xfrm>
            <a:off x="6217920" y="502920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14201B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46520" y="51206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الأعمدة الحمراء في النموذج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46520" y="54406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الترقيم (27 خطأ) والتاء المربوطة (25 خطأ) — فمنهما تبدأ خطّة الحصّة المولّدة تلقائياً.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أرقام مقاسة — لا أرقام مكتوبة يدوياً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5778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37160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ard-9.9-4.8"/>
          <p:cNvSpPr/>
          <p:nvPr/>
        </p:nvSpPr>
        <p:spPr>
          <a:xfrm>
            <a:off x="9052560" y="43891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144000" y="4498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10.72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144000" y="5138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مللي ثانية لتحليل 8540 كلمة</a:t>
            </a:r>
            <a:endParaRPr lang="en-US" sz="1050" dirty="0"/>
          </a:p>
        </p:txBody>
      </p:sp>
      <p:sp>
        <p:nvSpPr>
          <p:cNvPr id="8" name="card-6.9-4.8"/>
          <p:cNvSpPr/>
          <p:nvPr/>
        </p:nvSpPr>
        <p:spPr>
          <a:xfrm>
            <a:off x="6309360" y="43891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400800" y="4498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796,642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6400800" y="5138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في الثانية</a:t>
            </a:r>
            <a:endParaRPr lang="en-US" sz="1050" dirty="0"/>
          </a:p>
        </p:txBody>
      </p:sp>
      <p:sp>
        <p:nvSpPr>
          <p:cNvPr id="11" name="card-3.9-4.8"/>
          <p:cNvSpPr/>
          <p:nvPr/>
        </p:nvSpPr>
        <p:spPr>
          <a:xfrm>
            <a:off x="3566160" y="438912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657600" y="44988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511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5138928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مدخلاً في بنوك القواعد</a:t>
            </a:r>
            <a:endParaRPr lang="en-US" sz="1050" dirty="0"/>
          </a:p>
        </p:txBody>
      </p:sp>
      <p:sp>
        <p:nvSpPr>
          <p:cNvPr id="14" name="card-0.6-4.8"/>
          <p:cNvSpPr/>
          <p:nvPr/>
        </p:nvSpPr>
        <p:spPr>
          <a:xfrm>
            <a:off x="548640" y="4389120"/>
            <a:ext cx="2651760" cy="1463040"/>
          </a:xfrm>
          <a:prstGeom prst="roundRect">
            <a:avLst>
              <a:gd name="adj" fmla="val 75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449884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2"/>
          <p:cNvSpPr txBox="1"/>
          <p:nvPr/>
        </p:nvSpPr>
        <p:spPr>
          <a:xfrm>
            <a:off x="640080" y="513892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خوادم · مفاتيح · مكتبات خارجية · طلبات شبكة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الأثر التصوّريّ — وافتراضاته معلنة كاملة</a:t>
            </a:r>
            <a:endParaRPr lang="en-US" sz="3400" dirty="0"/>
          </a:p>
        </p:txBody>
      </p:sp>
      <p:sp>
        <p:nvSpPr>
          <p:cNvPr id="3" name="card-0.6-1.45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20190E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4475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 صريح: </a:t>
            </a:r>
            <a:pPr algn="r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كلّ رقم في هذه الشريحة نمذجة حسابية مبنيّة على افتراضات معلنة — لم نُجرِ تجربة ميدانية على طلبة حقيقيين، ولن نقول أمام أيّ لجنة إنّنا فعلنا.</a:t>
            </a:r>
            <a:endParaRPr lang="en-US" sz="1350" dirty="0"/>
          </a:p>
        </p:txBody>
      </p:sp>
      <p:sp>
        <p:nvSpPr>
          <p:cNvPr id="5" name="card-9.9-2.8"/>
          <p:cNvSpPr/>
          <p:nvPr/>
        </p:nvSpPr>
        <p:spPr>
          <a:xfrm>
            <a:off x="9052560" y="25603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0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نصّاً يصحّحه المعلّم شهريّاً</a:t>
            </a:r>
            <a:endParaRPr lang="en-US" sz="1050" dirty="0"/>
          </a:p>
        </p:txBody>
      </p:sp>
      <p:sp>
        <p:nvSpPr>
          <p:cNvPr id="8" name="card-6.95-2.8"/>
          <p:cNvSpPr/>
          <p:nvPr/>
        </p:nvSpPr>
        <p:spPr>
          <a:xfrm>
            <a:off x="6355080" y="25603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دقيقة تصحيح شهريّاً / معلّم</a:t>
            </a:r>
            <a:endParaRPr lang="en-US" sz="1050" dirty="0"/>
          </a:p>
        </p:txBody>
      </p:sp>
      <p:sp>
        <p:nvSpPr>
          <p:cNvPr id="11" name="card-4-2.8"/>
          <p:cNvSpPr/>
          <p:nvPr/>
        </p:nvSpPr>
        <p:spPr>
          <a:xfrm>
            <a:off x="3657600" y="2560320"/>
            <a:ext cx="2560320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49040" y="267004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374904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ساعة موفَّرة شهريّاً / معلّم</a:t>
            </a:r>
            <a:endParaRPr lang="en-US" sz="1050" dirty="0"/>
          </a:p>
        </p:txBody>
      </p:sp>
      <p:sp>
        <p:nvSpPr>
          <p:cNvPr id="14" name="card-0.6-2.8"/>
          <p:cNvSpPr/>
          <p:nvPr/>
        </p:nvSpPr>
        <p:spPr>
          <a:xfrm>
            <a:off x="548640" y="2560320"/>
            <a:ext cx="2971800" cy="1325880"/>
          </a:xfrm>
          <a:prstGeom prst="roundRect">
            <a:avLst>
              <a:gd name="adj" fmla="val 8276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70048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2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994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ساعة موفَّرة سنويّاً على مستوى المدرسة</a:t>
            </a:r>
            <a:endParaRPr lang="en-US" sz="1050" dirty="0"/>
          </a:p>
        </p:txBody>
      </p:sp>
      <p:sp>
        <p:nvSpPr>
          <p:cNvPr id="17" name="card-6.95-4.5"/>
          <p:cNvSpPr/>
          <p:nvPr/>
        </p:nvSpPr>
        <p:spPr>
          <a:xfrm>
            <a:off x="6355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1C1A14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22452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القيمة الزمنية المستردّة سنويّاً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55371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59,640 د.إ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5230368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994 ساعة × 60 د.إ لتكلفة ساعة المعلّم (افتراض تقديريّ)</a:t>
            </a:r>
            <a:endParaRPr lang="en-US" sz="1100" dirty="0"/>
          </a:p>
        </p:txBody>
      </p:sp>
      <p:sp>
        <p:nvSpPr>
          <p:cNvPr id="21" name="card-0.6-4.5"/>
          <p:cNvSpPr/>
          <p:nvPr/>
        </p:nvSpPr>
        <p:spPr>
          <a:xfrm>
            <a:off x="548640" y="4114800"/>
            <a:ext cx="5577840" cy="1783080"/>
          </a:xfrm>
          <a:prstGeom prst="roundRect">
            <a:avLst>
              <a:gd name="adj" fmla="val 6154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الافتراضات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498848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معلّم لغة عربية · 5 شعب لكلّ معلّم × 25 طالباً · نصّان كتابيّان شهريّاً لكلّ طالب · 4 دقائق لتصحيح النصّ يدويّاً · اختصار 55% من زمن الفرز · 9 أشهر دراسيّة · تكلفة تشغيل مُبين 0 د.إ (لا خوادم ولا اشتراكات ولا أجهزة إضافية).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طبقة مايكروسوفت — جاهزون لبيئة المدرسة كما هي</a:t>
            </a:r>
            <a:endParaRPr lang="en-US" sz="3400" dirty="0"/>
          </a:p>
        </p:txBody>
      </p:sp>
      <p:sp>
        <p:nvSpPr>
          <p:cNvPr id="3" name="card-8.63-1.45"/>
          <p:cNvSpPr/>
          <p:nvPr/>
        </p:nvSpPr>
        <p:spPr>
          <a:xfrm>
            <a:off x="7891272" y="1325880"/>
            <a:ext cx="3538728" cy="2057400"/>
          </a:xfrm>
          <a:prstGeom prst="roundRect">
            <a:avLst>
              <a:gd name="adj" fmla="val 533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16768" y="1463040"/>
            <a:ext cx="530352" cy="530352"/>
          </a:xfrm>
          <a:prstGeom prst="ellipse">
            <a:avLst/>
          </a:prstGeom>
          <a:solidFill>
            <a:srgbClr val="5FB8F0">
              <a:alpha val="20000"/>
            </a:srgbClr>
          </a:solidFill>
          <a:ln w="12700">
            <a:solidFill>
              <a:srgbClr val="5FB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716768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074152" y="1517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74152" y="1993392"/>
            <a:ext cx="3172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الطالب وخطّة الحصّة تُصدَّر بتنسيق يفتحه Word مباشرةً، عربيّ من اليمين لليسار وجاهز للطباعة</a:t>
            </a:r>
            <a:endParaRPr lang="en-US" sz="1100" dirty="0"/>
          </a:p>
        </p:txBody>
      </p:sp>
      <p:sp>
        <p:nvSpPr>
          <p:cNvPr id="8" name="card-4.6000000000000005-1.45"/>
          <p:cNvSpPr/>
          <p:nvPr/>
        </p:nvSpPr>
        <p:spPr>
          <a:xfrm>
            <a:off x="4206240" y="1325880"/>
            <a:ext cx="3538728" cy="2057400"/>
          </a:xfrm>
          <a:prstGeom prst="roundRect">
            <a:avLst>
              <a:gd name="adj" fmla="val 533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31736" y="1463040"/>
            <a:ext cx="530352" cy="530352"/>
          </a:xfrm>
          <a:prstGeom prst="ellipse">
            <a:avLst/>
          </a:prstGeom>
          <a:solidFill>
            <a:srgbClr val="43D9A3">
              <a:alpha val="20000"/>
            </a:srgbClr>
          </a:solidFill>
          <a:ln w="12700">
            <a:solidFill>
              <a:srgbClr val="43D9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31736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1517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Excel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1993392"/>
            <a:ext cx="3172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الصفوف والخريطة الحرارية بترميز UTF-8 BOM فتظهر العربية سليمة في Excel دون تشويه</a:t>
            </a:r>
            <a:endParaRPr lang="en-US" sz="1100" dirty="0"/>
          </a:p>
        </p:txBody>
      </p:sp>
      <p:sp>
        <p:nvSpPr>
          <p:cNvPr id="13" name="card-0.5700000000000003-1.45"/>
          <p:cNvSpPr/>
          <p:nvPr/>
        </p:nvSpPr>
        <p:spPr>
          <a:xfrm>
            <a:off x="521208" y="1325880"/>
            <a:ext cx="3538728" cy="2057400"/>
          </a:xfrm>
          <a:prstGeom prst="roundRect">
            <a:avLst>
              <a:gd name="adj" fmla="val 5333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46704" y="1463040"/>
            <a:ext cx="530352" cy="530352"/>
          </a:xfrm>
          <a:prstGeom prst="ellipse">
            <a:avLst/>
          </a:prstGeom>
          <a:solidFill>
            <a:srgbClr val="E8B65A">
              <a:alpha val="20000"/>
            </a:srgbClr>
          </a:solidFill>
          <a:ln w="12700">
            <a:solidFill>
              <a:srgbClr val="E8B6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46704" y="14630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" y="151790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و Windows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" y="1993392"/>
            <a:ext cx="31729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بالنقر المزدوج على Edge دون تثبيت، ويعتمد خطوط Dubai و Segoe UI المدمجة في ويندوز إن انقطع الإنترنت</a:t>
            </a:r>
            <a:endParaRPr lang="en-US" sz="1100" dirty="0"/>
          </a:p>
        </p:txBody>
      </p:sp>
      <p:sp>
        <p:nvSpPr>
          <p:cNvPr id="18" name="card-6.8-3.88"/>
          <p:cNvSpPr/>
          <p:nvPr/>
        </p:nvSpPr>
        <p:spPr>
          <a:xfrm>
            <a:off x="6217920" y="3547872"/>
            <a:ext cx="5394960" cy="2286000"/>
          </a:xfrm>
          <a:prstGeom prst="roundRect">
            <a:avLst>
              <a:gd name="adj" fmla="val 4800"/>
            </a:avLst>
          </a:prstGeom>
          <a:solidFill>
            <a:srgbClr val="14201B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6576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جاهز اليوم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4059936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Word لتقرير الطالب وخطّة الحصّة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تصدير Excel لبيانات الصفّ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تشغيل كامل على Edge و Windows دون تثبيت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خطوط ويندوز احتياطية تضمن ظهور العربية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ورقة طباعة A4 مضبوطة داخل التطبيق</a:t>
            </a:r>
            <a:endParaRPr lang="en-US" sz="1050" dirty="0"/>
          </a:p>
        </p:txBody>
      </p:sp>
      <p:sp>
        <p:nvSpPr>
          <p:cNvPr id="21" name="card-0.6-3.88"/>
          <p:cNvSpPr/>
          <p:nvPr/>
        </p:nvSpPr>
        <p:spPr>
          <a:xfrm>
            <a:off x="548640" y="3547872"/>
            <a:ext cx="5577840" cy="2286000"/>
          </a:xfrm>
          <a:prstGeom prst="roundRect">
            <a:avLst>
              <a:gd name="adj" fmla="val 4800"/>
            </a:avLst>
          </a:prstGeom>
          <a:solidFill>
            <a:srgbClr val="20190E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657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خطّة الربط — لم تُبنَ بعد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059936"/>
            <a:ext cx="5120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تسجيل الدخول: Microsoft Entra ID بحساب المدرسة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الواجهة: Microsoft Graph API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الاستخدام: سحب واجبات Teams Assignments وإرجاع التقرير إليها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التخزين: OneDrive للمدرسة</a:t>
            </a:r>
            <a:endParaRPr lang="en-US" sz="1050" dirty="0"/>
          </a:p>
          <a:p>
            <a:pPr algn="r" marL="342900" indent="-3429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05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الشرط: موافقة قسم تقنية المعلومات وسياسة بيانات الطلبة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9846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5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موقفنا الصريح: لن ندّعي ربطاً لم نبنِه. الوضع الافتراضيّ لمُبين سيبقى محليّاً بالكامل، والربط بمايكروسوفت خيار إضافيّ تفعّله المدرسة إن أرادت.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ما يفعله مُبين — وما لا يفعله</a:t>
            </a:r>
            <a:endParaRPr lang="en-US" sz="3400" dirty="0"/>
          </a:p>
        </p:txBody>
      </p:sp>
      <p:sp>
        <p:nvSpPr>
          <p:cNvPr id="3" name="card-6.8-1.45"/>
          <p:cNvSpPr/>
          <p:nvPr/>
        </p:nvSpPr>
        <p:spPr>
          <a:xfrm>
            <a:off x="6217920" y="1325880"/>
            <a:ext cx="5394960" cy="3657600"/>
          </a:xfrm>
          <a:prstGeom prst="roundRect">
            <a:avLst>
              <a:gd name="adj" fmla="val 3000"/>
            </a:avLst>
          </a:prstGeom>
          <a:solidFill>
            <a:srgbClr val="14201B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46520" y="144475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يفعله فعلاً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46520" y="1874520"/>
            <a:ext cx="493776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يرصد عشر عائلات بقواعد مكتوبة يدوياً لا بتخمين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 القاعدة وراء كلّ خطأ مع درجة ثقة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يبني بصمة لغوية تقارن الطالب بنفسه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يولّد تمارين من أخطاء الطالب نفسه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يعطي المعلّم خريطة حرارية وخطّة حصّة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يعمل بلا إنترنت وبلا خادم وبلا مفتاح</a:t>
            </a:r>
            <a:endParaRPr lang="en-US" sz="1200" dirty="0"/>
          </a:p>
        </p:txBody>
      </p:sp>
      <p:sp>
        <p:nvSpPr>
          <p:cNvPr id="6" name="card-0.6-1.45"/>
          <p:cNvSpPr/>
          <p:nvPr/>
        </p:nvSpPr>
        <p:spPr>
          <a:xfrm>
            <a:off x="548640" y="132588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201418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44475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لا يفعله — ولن ندّعيه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874520"/>
            <a:ext cx="5120640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يفهم المعنى: قد يمرّ خطأ نحويّ سياقيّ عميق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يشكّل النصّ آلياً في هذه النسخة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يقيّم جودة الفكرة ولا الأسلوب الأدبيّ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معجمه محدود بما بنيناه، ليس معجماً شاملاً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يستبدل المعلّم: أداة فرز أوّليّ والحكم له</a:t>
            </a:r>
            <a:endParaRPr lang="en-US" sz="1200" dirty="0"/>
          </a:p>
          <a:p>
            <a:pPr algn="r" marL="342900" indent="-342900">
              <a:lnSpc>
                <a:spcPts val="2200"/>
              </a:lnSpc>
              <a:spcAft>
                <a:spcPts val="700"/>
              </a:spcAft>
              <a:buSzPct val="100000"/>
              <a:buChar char="▪"/>
            </a:pPr>
            <a:r>
              <a:rPr lang="en-US" sz="12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 يُنتج إنذاراً كاذباً، ولذلك نُظهر درجة الثقة</a:t>
            </a:r>
            <a:endParaRPr lang="en-US" sz="1200" dirty="0"/>
          </a:p>
        </p:txBody>
      </p:sp>
      <p:sp>
        <p:nvSpPr>
          <p:cNvPr id="9" name="card-0.6-5.65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41420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الخصوصية: </a:t>
            </a:r>
            <a:pPr algn="r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EDE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خادم ولا حساب ولا مفتاح. كلّ تحليل يجري في ذاكرة المتصفّح وينتهي بإغلاق الصفحة. النصوص في النموذج تجريبية من تأليفنا ولا تخصّ طالباً حقيقياً.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خريطة التطوير — ثلاث مراحل معلنة</a:t>
            </a:r>
            <a:endParaRPr lang="en-US" sz="3400" dirty="0"/>
          </a:p>
        </p:txBody>
      </p:sp>
      <p:sp>
        <p:nvSpPr>
          <p:cNvPr id="3" name="card-0.6-1.55"/>
          <p:cNvSpPr/>
          <p:nvPr/>
        </p:nvSpPr>
        <p:spPr>
          <a:xfrm>
            <a:off x="548640" y="1417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81360" y="1828800"/>
            <a:ext cx="548640" cy="548640"/>
          </a:xfrm>
          <a:prstGeom prst="ellipse">
            <a:avLst/>
          </a:prstGeom>
          <a:solidFill>
            <a:srgbClr val="E8B65A">
              <a:alpha val="22000"/>
            </a:srgbClr>
          </a:solidFill>
          <a:ln w="15875">
            <a:solidFill>
              <a:srgbClr val="E8B6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503920" y="16002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1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503920" y="200253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الآن — مُنجَزة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618488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محرّك عامل بعشر عائلات و511 مدخلاً · بصمة لغوية · تمارين مولّدة · جسر الفصحى · لوحة صفّ وخريطة حرارية · خطّة حصّة · وضع معرض · تصدير Word و Excel · يعمل دون اتصال</a:t>
            </a:r>
            <a:endParaRPr lang="en-US" sz="1250" dirty="0"/>
          </a:p>
        </p:txBody>
      </p:sp>
      <p:sp>
        <p:nvSpPr>
          <p:cNvPr id="9" name="card-0.6-3.23"/>
          <p:cNvSpPr/>
          <p:nvPr/>
        </p:nvSpPr>
        <p:spPr>
          <a:xfrm>
            <a:off x="548640" y="2953512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81360" y="3364992"/>
            <a:ext cx="548640" cy="548640"/>
          </a:xfrm>
          <a:prstGeom prst="ellipse">
            <a:avLst/>
          </a:prstGeom>
          <a:solidFill>
            <a:srgbClr val="A98BF5">
              <a:alpha val="22000"/>
            </a:srgbClr>
          </a:solidFill>
          <a:ln w="15875">
            <a:solidFill>
              <a:srgbClr val="A98B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88136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◐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3136392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2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503920" y="353872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أشهر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15468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توسيع المعجم أربعة أضعاف · التشكيل الآليّ · أربع عائلات قواعد إضافية · حزمة اختبارات تلقائية · تجربة مُحكَّمة في صفّ واحد بموافقة رسمية وتقرير قياس</a:t>
            </a:r>
            <a:endParaRPr lang="en-US" sz="1250" dirty="0"/>
          </a:p>
        </p:txBody>
      </p:sp>
      <p:sp>
        <p:nvSpPr>
          <p:cNvPr id="15" name="card-0.6-4.91"/>
          <p:cNvSpPr/>
          <p:nvPr/>
        </p:nvSpPr>
        <p:spPr>
          <a:xfrm>
            <a:off x="548640" y="4489704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4901184"/>
            <a:ext cx="548640" cy="548640"/>
          </a:xfrm>
          <a:prstGeom prst="ellipse">
            <a:avLst/>
          </a:prstGeom>
          <a:solidFill>
            <a:srgbClr val="5FB8F0">
              <a:alpha val="22000"/>
            </a:srgbClr>
          </a:solidFill>
          <a:ln w="15875">
            <a:solidFill>
              <a:srgbClr val="5FB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881360" y="4901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467258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المرحلة 3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50749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سنة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690872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نموذج لغويّ عربيّ صغير يعمل داخل المتصفّح عبر WebGPU لفهم السياق · ربط اختياريّ بـ Teams Assignments و Entra ID · لوحة إدارة تعليمية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المرحلتان الثانية والثالثة خطّة معلنة لا إنجاز — ونقولها بهذا الوضوح في كلّ مستند.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E8B65A"/>
                </a:solidFill>
              </a:rPr>
              <a:t>الاتّساق مع المرجعيّات الوطنية والمحلية</a:t>
            </a:r>
            <a:endParaRPr lang="en-US" sz="3400" dirty="0"/>
          </a:p>
        </p:txBody>
      </p:sp>
      <p:sp>
        <p:nvSpPr>
          <p:cNvPr id="3" name="card-6.95-1.5"/>
          <p:cNvSpPr/>
          <p:nvPr/>
        </p:nvSpPr>
        <p:spPr>
          <a:xfrm>
            <a:off x="6355080" y="137160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37960" y="14630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ميثاق «عهدُ العربية»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37960" y="17556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هيئة الشارقة للتعليم الخاص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537960" y="19933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قياس رقميّ فعليّ لالتزام الطلبة بالفصحى عبر جسر الفصحى</a:t>
            </a:r>
            <a:endParaRPr lang="en-US" sz="1100" dirty="0"/>
          </a:p>
        </p:txBody>
      </p:sp>
      <p:sp>
        <p:nvSpPr>
          <p:cNvPr id="7" name="card-0.6000000000000005-1.5"/>
          <p:cNvSpPr/>
          <p:nvPr/>
        </p:nvSpPr>
        <p:spPr>
          <a:xfrm>
            <a:off x="548640" y="137160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46304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الاختبارات المعياريّة للعربية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7556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للناطقين بها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9339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تشخيصية مستمرّة بدل لقطة اختبار واحدة في السنة</a:t>
            </a:r>
            <a:endParaRPr lang="en-US" sz="1100" dirty="0"/>
          </a:p>
        </p:txBody>
      </p:sp>
      <p:sp>
        <p:nvSpPr>
          <p:cNvPr id="11" name="card-6.95-2.8"/>
          <p:cNvSpPr/>
          <p:nvPr/>
        </p:nvSpPr>
        <p:spPr>
          <a:xfrm>
            <a:off x="6355080" y="256032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26517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أجندة التعليم الوطنية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9443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التحصيل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1821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مؤشّر كمّيّ قابل للتتبّع لكلّ طالب وصفّ ومدرسة</a:t>
            </a:r>
            <a:endParaRPr lang="en-US" sz="1100" dirty="0"/>
          </a:p>
        </p:txBody>
      </p:sp>
      <p:sp>
        <p:nvSpPr>
          <p:cNvPr id="15" name="card-0.6000000000000005-2.8"/>
          <p:cNvSpPr/>
          <p:nvPr/>
        </p:nvSpPr>
        <p:spPr>
          <a:xfrm>
            <a:off x="548640" y="256032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65176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5FB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رؤية الإمارات 2071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94436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مجتمع المعرفة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1821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لغوية عربية مبنيّة محلياً بأيدي طلبة الدولة</a:t>
            </a:r>
            <a:endParaRPr lang="en-US" sz="1100" dirty="0"/>
          </a:p>
        </p:txBody>
      </p:sp>
      <p:sp>
        <p:nvSpPr>
          <p:cNvPr id="19" name="card-6.95-4.1"/>
          <p:cNvSpPr/>
          <p:nvPr/>
        </p:nvSpPr>
        <p:spPr>
          <a:xfrm>
            <a:off x="6355080" y="374904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8404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27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خصوصية بيانات الطلبة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1330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الامتثال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3708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معالجة محلية بالكامل: لا رفع ولا خادم ولا مفتاح</a:t>
            </a:r>
            <a:endParaRPr lang="en-US" sz="1100" dirty="0"/>
          </a:p>
        </p:txBody>
      </p:sp>
      <p:sp>
        <p:nvSpPr>
          <p:cNvPr id="23" name="card-0.6000000000000005-4.1"/>
          <p:cNvSpPr/>
          <p:nvPr/>
        </p:nvSpPr>
        <p:spPr>
          <a:xfrm>
            <a:off x="548640" y="3749040"/>
            <a:ext cx="5257800" cy="1051560"/>
          </a:xfrm>
          <a:prstGeom prst="roundRect">
            <a:avLst>
              <a:gd name="adj" fmla="val 10435"/>
            </a:avLst>
          </a:prstGeom>
          <a:solidFill>
            <a:srgbClr val="191922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84048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0A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عام الأسرة 2026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13308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الشراكة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31520" y="43708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تقرير Word يصل الأسرة بلغة مفهومة لا بعلامة مجرّدة</a:t>
            </a:r>
            <a:endParaRPr lang="en-US" sz="1100" dirty="0"/>
          </a:p>
        </p:txBody>
      </p:sp>
      <p:sp>
        <p:nvSpPr>
          <p:cNvPr id="27" name="card-0.6-5.6"/>
          <p:cNvSpPr/>
          <p:nvPr/>
        </p:nvSpPr>
        <p:spPr>
          <a:xfrm>
            <a:off x="548640" y="512064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C1A14"/>
          </a:solidFill>
          <a:ln w="9525">
            <a:solidFill>
              <a:srgbClr val="32323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5212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CODE TEAM  ·  مدرسة السدرة الخاصة — كلباء، الشارقة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غيث صادق — قيادة المشروع والمحرّك   ·   أحمد حمد — الهندسة والواجهات   ·   تيم عامر — المحتوى اللغويّ وبنوك القواعد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914400" y="63093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E8B9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B65A">
              <a:alpha val="10000"/>
            </a:srgbClr>
          </a:solidFill>
          <a:ln w="12700">
            <a:solidFill>
              <a:srgbClr val="0A0A0F"/>
            </a:solidFill>
            <a:prstDash val="solid"/>
          </a:ln>
        </p:spPr>
      </p:sp>
      <p:pic>
        <p:nvPicPr>
          <p:cNvPr id="3" name="Image 0" descr="logos/logo-mub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84048"/>
            <a:ext cx="1325880" cy="1325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العربية لا تحتاج من يدافع عنها —</a:t>
            </a:r>
            <a:endParaRPr lang="en-US" sz="4000" dirty="0"/>
          </a:p>
          <a:p>
            <a:pPr rtl="1" algn="r"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تحتاج من يبني لها أدوات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مُبين أداة واحدة، تحلّ مشكلة واحدة، بعمق: أن يفهم الطالب العربيّ قاعدة خطئه قبل أن يتكرّر.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503920" y="4572000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43D9A3">
              <a:alpha val="15000"/>
            </a:srgbClr>
          </a:solidFill>
          <a:ln w="9525">
            <a:solidFill>
              <a:srgbClr val="43D9A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03920" y="45720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43D9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جرّبها الآن على الشاشة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029200" y="4572000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8B65A">
              <a:alpha val="15000"/>
            </a:srgbClr>
          </a:solidFill>
          <a:ln w="9525">
            <a:solidFill>
              <a:srgbClr val="E8B6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0" y="45720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E8B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إنترنت · لا مفتاح · لا خادم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011680" y="457200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A98BF5">
              <a:alpha val="15000"/>
            </a:srgbClr>
          </a:solidFill>
          <a:ln w="9525">
            <a:solidFill>
              <a:srgbClr val="A98B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11680" y="45720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A98B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511 مدخلاً · 10 عائلات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2303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B2AF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الهاكاثون الطلابي الأول «للعربية نبتكر» — أكاديمية الشارقة للتعليم، 2026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758830" y="5614416"/>
            <a:ext cx="908914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1" descr="logos/flat-hackat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3694" y="5669280"/>
            <a:ext cx="799186" cy="420624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644908" y="5614416"/>
            <a:ext cx="1022482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logos/flat-sp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9772" y="5669280"/>
            <a:ext cx="912754" cy="420624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40756" y="5614416"/>
            <a:ext cx="1312713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3" descr="logos/flat-edufik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620" y="5669280"/>
            <a:ext cx="1202985" cy="42062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722852" y="5614416"/>
            <a:ext cx="1371600" cy="530352"/>
          </a:xfrm>
          <a:prstGeom prst="roundRect">
            <a:avLst>
              <a:gd name="adj" fmla="val 10345"/>
            </a:avLst>
          </a:prstGeom>
          <a:solidFill>
            <a:srgbClr val="0A0A0F"/>
          </a:solidFill>
          <a:ln w="12700">
            <a:solidFill>
              <a:srgbClr val="32323F"/>
            </a:solidFill>
            <a:prstDash val="dash"/>
          </a:ln>
        </p:spPr>
      </p:sp>
      <p:sp>
        <p:nvSpPr>
          <p:cNvPr id="20" name="Text 14"/>
          <p:cNvSpPr txBox="1"/>
          <p:nvPr/>
        </p:nvSpPr>
        <p:spPr>
          <a:xfrm>
            <a:off x="6722852" y="56144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850" dirty="0">
                <a:solidFill>
                  <a:srgbClr val="8E8B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شعار مدرسة السدرة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been Dark">
  <a:themeElements>
    <a:clrScheme name="Mubeen Dark">
      <a:dk1>
        <a:srgbClr val="0A0A0F"/>
      </a:dk1>
      <a:lt1>
        <a:srgbClr val="FFFFFF"/>
      </a:lt1>
      <a:dk2>
        <a:srgbClr val="15151F"/>
      </a:dk2>
      <a:lt2>
        <a:srgbClr val="F4F2EE"/>
      </a:lt2>
      <a:accent1>
        <a:srgbClr val="E8B65A"/>
      </a:accent1>
      <a:accent2>
        <a:srgbClr val="A98BF5"/>
      </a:accent2>
      <a:accent3>
        <a:srgbClr val="43D9A3"/>
      </a:accent3>
      <a:accent4>
        <a:srgbClr val="F2707A"/>
      </a:accent4>
      <a:accent5>
        <a:srgbClr val="5FB8F0"/>
      </a:accent5>
      <a:accent6>
        <a:srgbClr val="F0A94C"/>
      </a:accent6>
      <a:hlink>
        <a:srgbClr val="E8B65A"/>
      </a:hlink>
      <a:folHlink>
        <a:srgbClr val="A98BF5"/>
      </a:folHlink>
    </a:clrScheme>
    <a:fontScheme name="Mubeen Dark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Al Sidra Private School - Kalba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Mubeen - Arabic Diagnostic Engine</dc:title>
  <dc:subject>PptxGenJS Presentation</dc:subject>
  <dc:creator>GEN CODE TEAM</dc:creator>
  <cp:lastModifiedBy>GEN CODE TEAM</cp:lastModifiedBy>
  <cp:revision>1</cp:revision>
  <dcterms:created xsi:type="dcterms:W3CDTF">2026-10-08T06:25:42Z</dcterms:created>
  <dcterms:modified xsi:type="dcterms:W3CDTF">2026-10-08T06:25:42Z</dcterms:modified>
</cp:coreProperties>
</file>