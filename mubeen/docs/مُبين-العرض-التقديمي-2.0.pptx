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افتتاح" id="{66f79bc8-5f35-ca4a-eb15-fe55e477d235}">
          <p14:sldIdLst>
            <p14:sldId id="256"/>
          </p14:sldIdLst>
        </p14:section>
        <p14:section name="المشكلة" id="{19a3a6ab-e784-ab33-34de-751bc943fc35}">
          <p14:sldIdLst>
            <p14:sldId id="257"/>
          </p14:sldIdLst>
        </p14:section>
        <p14:section name="الحلّ" id="{4ff03ca0-c55e-514a-559c-40ee02624382}">
          <p14:sldIdLst>
            <p14:sldId id="258"/>
            <p14:sldId id="259"/>
            <p14:sldId id="260"/>
          </p14:sldIdLst>
        </p14:section>
        <p14:section name="الإصدار 2.0" id="{adaf4148-62ec-4ef9-c055-ac2f75d74b20}">
          <p14:sldIdLst>
            <p14:sldId id="261"/>
            <p14:sldId id="262"/>
            <p14:sldId id="263"/>
            <p14:sldId id="264"/>
          </p14:sldIdLst>
        </p14:section>
        <p14:section name="الجودة" id="{335c5cc9-721a-1eb1-d8c0-d1ed35e33f83}">
          <p14:sldIdLst>
            <p14:sldId id="265"/>
          </p14:sldIdLst>
        </p14:section>
        <p14:section name="الخصوصيّة والحدود" id="{4a0a02b0-c4b7-bca0-3af1-abab9aa5973a}">
          <p14:sldIdLst>
            <p14:sldId id="266"/>
          </p14:sldIdLst>
        </p14:section>
        <p14:section name="الخاتمة" id="{1606ecbf-0115-34be-54cc-f316fe84603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A354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3A3540"/>
                </a:solidFill>
                <a:latin typeface="+mn-lt"/>
              </a:rPr>
              <a:t>على مجموعة الاختبار نفسها — أقلّ إنذاراً كاذباً، وأكثر رصداً صحيحاً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الإصدار 1.0</c:v>
                </c:pt>
              </c:strCache>
            </c:strRef>
          </c:tx>
          <c:spPr>
            <a:solidFill>
              <a:srgbClr val="D0414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35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إيجابيّات كاذبة</c:v>
                  </c:pt>
                  <c:pt idx="1">
                    <c:v>ملاحظات صحيحة مرصودة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الإصدار 2.0</c:v>
                </c:pt>
              </c:strCache>
            </c:strRef>
          </c:tx>
          <c:spPr>
            <a:solidFill>
              <a:srgbClr val="1E9E7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35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إيجابيّات كاذبة</c:v>
                  </c:pt>
                  <c:pt idx="1">
                    <c:v>ملاحظات صحيحة مرصودة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3A35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0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12700" cap="flat">
              <a:solidFill>
                <a:srgbClr val="EDE8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05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5505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 ٣٠ ثانية: «مُبين محرّك يقرأ نصّ الطالب العربي، يكشف أخطاءه، ويشرح القاعدة وراء كلّ خطأ — ويعمل بلا إنترنت.» ثم فوراً: «تفضّل، اكتب أيّ جملة بنفسك.» لا تشرح — شغّلها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المحكّم سيسأل: من المستفيد؟ الطالب أوّلاً (يفهم القاعدة)، ثم المعلّم (يوفّر زمن الفرز)، ثم المدرسة (بيانات). لا تذكر أرقاماً لم نقِسها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إن قال المحكّم «هذا مدقّق إملائي عادي»: الفرق أنّنا نشرح القاعدة، ونبني بصمة، ونولّد التمرين، ونكافئ التقدّم. المدقّق يصحّح، ومُبين تُعلِّم — وكلّه بلا إنترنت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ردّك على سؤال «هل هو ذكاء اصطناعي حقيقي أم واجهة؟» — القواعد صريحة ومكتوبة، وهذا أصدق من صندوق أسود، ويعمل دون إنترنت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اعرض الشاشة الحقيقية هنا، ثم اطلب من المحكّم أن يكتب جملته بنفسه. هذه أقوى ٢٠ ثانية في العرض كلّه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انتقال: «رصدنا أنّ الطالب يفهم القاعدة لكنّه لا يعود إلى التطبيق. فبنينا سبباً يجعله يعود — بلا خداع ولا نقاط مجّانيّة.»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أهمّ جملة هنا: «لم نبنِ نظام نقاط يخدع الطالب — بنينا نظاماً يشرح له كيف كسب كلّ نقطة.»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النقطة المحوريّة: كلّ مصدر نقطة مربوط بفعل تعلّميّ — لا نقاط على مجرّد فتح التطبيق أو الانتظار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إن سأل المحكّم عن قيمة الشهادة: نحن لم ندّعِ أنّها رسميّة، ومكتوب ذلك في الواجهة نفسها. هذا يبني الثقة بدل أن يستهلكها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تميّزنا: أغلب الفرق تعرض ما أضافت، ونحن نعرض ما أصلحنا. والمحكّم يقرأ من هذا أنّنا نختبر عملنا لا نكتفي ببنائه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تهرب من سؤال الحدود — اذكرها أنت قبل أن يسألها المحكّم. الفريق الذي يعرف حدود أداته يبدو أكثر نضجاً من الفريق الذي يدّعي الكمال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الإغلاق: «مُبين ليست مشروع هاكاثون ينتهي اليوم — هي أداة جاهزة للاستعمال الآن، ونطلب فرصة تجربتها في فصل حقيقيّ لنقيس أثرها.» ثم اشكر اللجنة وادعُهم للتجربة على الشاشة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3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B7D"/>
                </a:solidFill>
              </a:rPr>
              <a:t>مُبين · GEN CODE TEAM — مدرسة السدرة الخاصة، كلباء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02336"/>
            <a:ext cx="11027664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66928" y="6419088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494"/>
                </a:solidFill>
              </a:rPr>
              <a:t>مُبين · الهاكاثون الطلابي الأوّل «للعربية نبتكر»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84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B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2651760"/>
            <a:ext cx="11027664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r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3703320"/>
            <a:ext cx="1102766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600" dirty="0">
                <a:solidFill>
                  <a:srgbClr val="A5A2B0"/>
                </a:solidFill>
              </a:defRPr>
            </a:lvl1pPr>
          </a:lstStyle>
          <a:p>
            <a:pPr algn="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84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haithsadeq/mubeen/assets/logos/mubee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566928"/>
            <a:ext cx="950976" cy="9509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1627632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2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مُبين</a:t>
            </a:r>
            <a:endParaRPr lang="en-US" sz="6200" dirty="0"/>
          </a:p>
        </p:txBody>
      </p:sp>
      <p:sp>
        <p:nvSpPr>
          <p:cNvPr id="4" name="Text 1"/>
          <p:cNvSpPr txBox="1"/>
          <p:nvPr/>
        </p:nvSpPr>
        <p:spPr>
          <a:xfrm>
            <a:off x="0" y="2505456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1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يُبيِّن لك قاعدة خطئك قبل أن يتكرّر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301752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A5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محرّك تشخيص لغويّ عربيّ يعمل داخل المتصفّح — بلا إنترنت، وبلا خادم، وبلا مفتاح</a:t>
            </a:r>
            <a:endParaRPr lang="en-US" sz="1400" dirty="0"/>
          </a:p>
        </p:txBody>
      </p:sp>
      <p:sp>
        <p:nvSpPr>
          <p:cNvPr id="6" name="chip-0"/>
          <p:cNvSpPr/>
          <p:nvPr/>
        </p:nvSpPr>
        <p:spPr>
          <a:xfrm>
            <a:off x="2203704" y="3657600"/>
            <a:ext cx="1828800" cy="402336"/>
          </a:xfrm>
          <a:prstGeom prst="roundRect">
            <a:avLst>
              <a:gd name="adj" fmla="val 22727"/>
            </a:avLst>
          </a:prstGeom>
          <a:solidFill>
            <a:srgbClr val="1B1B27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03704" y="36576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الإصدار 2.0</a:t>
            </a:r>
            <a:endParaRPr lang="en-US" sz="1150" dirty="0"/>
          </a:p>
        </p:txBody>
      </p:sp>
      <p:sp>
        <p:nvSpPr>
          <p:cNvPr id="8" name="chip-1"/>
          <p:cNvSpPr/>
          <p:nvPr/>
        </p:nvSpPr>
        <p:spPr>
          <a:xfrm>
            <a:off x="4178808" y="3657600"/>
            <a:ext cx="1828800" cy="402336"/>
          </a:xfrm>
          <a:prstGeom prst="roundRect">
            <a:avLst>
              <a:gd name="adj" fmla="val 22727"/>
            </a:avLst>
          </a:prstGeom>
          <a:solidFill>
            <a:srgbClr val="1B1B27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78808" y="36576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 عائلات أخطاء</a:t>
            </a:r>
            <a:endParaRPr lang="en-US" sz="1150" dirty="0"/>
          </a:p>
        </p:txBody>
      </p:sp>
      <p:sp>
        <p:nvSpPr>
          <p:cNvPr id="10" name="chip-2"/>
          <p:cNvSpPr/>
          <p:nvPr/>
        </p:nvSpPr>
        <p:spPr>
          <a:xfrm>
            <a:off x="6153912" y="3657600"/>
            <a:ext cx="1828800" cy="402336"/>
          </a:xfrm>
          <a:prstGeom prst="roundRect">
            <a:avLst>
              <a:gd name="adj" fmla="val 22727"/>
            </a:avLst>
          </a:prstGeom>
          <a:solidFill>
            <a:srgbClr val="1B1B27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53912" y="36576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٥٠٤ مدخلاً</a:t>
            </a:r>
            <a:endParaRPr lang="en-US" sz="1150" dirty="0"/>
          </a:p>
        </p:txBody>
      </p:sp>
      <p:sp>
        <p:nvSpPr>
          <p:cNvPr id="12" name="chip-3"/>
          <p:cNvSpPr/>
          <p:nvPr/>
        </p:nvSpPr>
        <p:spPr>
          <a:xfrm>
            <a:off x="8129016" y="3657600"/>
            <a:ext cx="1828800" cy="402336"/>
          </a:xfrm>
          <a:prstGeom prst="roundRect">
            <a:avLst>
              <a:gd name="adj" fmla="val 22727"/>
            </a:avLst>
          </a:prstGeom>
          <a:solidFill>
            <a:srgbClr val="1B1B27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29016" y="36576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صفر طلب شبكة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0" y="4343400"/>
            <a:ext cx="1216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CODE TEAM  ·  غيث صادق  ·  أحمد حمد  ·  تيم عامر</a:t>
            </a:r>
            <a:endParaRPr lang="en-US" sz="1300" dirty="0"/>
          </a:p>
        </p:txBody>
      </p:sp>
      <p:sp>
        <p:nvSpPr>
          <p:cNvPr id="15" name="logo-bg-0"/>
          <p:cNvSpPr/>
          <p:nvPr/>
        </p:nvSpPr>
        <p:spPr>
          <a:xfrm>
            <a:off x="3323844" y="4919472"/>
            <a:ext cx="14447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1" descr="/home/user/ghaithsadeq/mubeen/assets/logos/alsedra-school-whi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96996" y="5001768"/>
            <a:ext cx="1298448" cy="548640"/>
          </a:xfrm>
          <a:prstGeom prst="rect">
            <a:avLst/>
          </a:prstGeom>
        </p:spPr>
      </p:pic>
      <p:sp>
        <p:nvSpPr>
          <p:cNvPr id="17" name="logo-bg-1"/>
          <p:cNvSpPr/>
          <p:nvPr/>
        </p:nvSpPr>
        <p:spPr>
          <a:xfrm>
            <a:off x="4896612" y="4919472"/>
            <a:ext cx="106070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/home/user/ghaithsadeq/mubeen/assets/logos/hackath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969764" y="5001768"/>
            <a:ext cx="914400" cy="548640"/>
          </a:xfrm>
          <a:prstGeom prst="rect">
            <a:avLst/>
          </a:prstGeom>
        </p:spPr>
      </p:pic>
      <p:sp>
        <p:nvSpPr>
          <p:cNvPr id="19" name="logo-bg-2"/>
          <p:cNvSpPr/>
          <p:nvPr/>
        </p:nvSpPr>
        <p:spPr>
          <a:xfrm>
            <a:off x="6085332" y="4919472"/>
            <a:ext cx="133502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/home/user/ghaithsadeq/mubeen/assets/logos/spe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8484" y="5001768"/>
            <a:ext cx="1188720" cy="548640"/>
          </a:xfrm>
          <a:prstGeom prst="rect">
            <a:avLst/>
          </a:prstGeom>
        </p:spPr>
      </p:pic>
      <p:sp>
        <p:nvSpPr>
          <p:cNvPr id="21" name="logo-bg-3"/>
          <p:cNvSpPr/>
          <p:nvPr/>
        </p:nvSpPr>
        <p:spPr>
          <a:xfrm>
            <a:off x="7548372" y="4919472"/>
            <a:ext cx="128930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4" descr="/home/user/ghaithsadeq/mubeen/assets/logos/edufikra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621524" y="5001768"/>
            <a:ext cx="11430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0233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المشكلة ليست نقص التصحيح — بل أنّ التصحيح لا يُعلِّم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 يرى الخطّ الأحمر ولا يرى السبب، فيتكرّر الخطأ نفسه في النصّ التالي</a:t>
            </a:r>
            <a:endParaRPr lang="en-US" sz="1400" dirty="0"/>
          </a:p>
        </p:txBody>
      </p:sp>
      <p:sp>
        <p:nvSpPr>
          <p:cNvPr id="4" name="card-broken"/>
          <p:cNvSpPr/>
          <p:nvPr/>
        </p:nvSpPr>
        <p:spPr>
          <a:xfrm>
            <a:off x="6263640" y="1627632"/>
            <a:ext cx="5330952" cy="3749040"/>
          </a:xfrm>
          <a:prstGeom prst="roundRect">
            <a:avLst>
              <a:gd name="adj" fmla="val 2927"/>
            </a:avLst>
          </a:prstGeom>
          <a:solidFill>
            <a:srgbClr val="FDF1F2"/>
          </a:solidFill>
          <a:ln w="12700">
            <a:solidFill>
              <a:srgbClr val="F0CDD1"/>
            </a:solidFill>
            <a:prstDash val="solid"/>
          </a:ln>
        </p:spPr>
      </p:sp>
      <p:sp>
        <p:nvSpPr>
          <p:cNvPr id="5" name="icon-broken"/>
          <p:cNvSpPr/>
          <p:nvPr/>
        </p:nvSpPr>
        <p:spPr>
          <a:xfrm>
            <a:off x="10725912" y="1828800"/>
            <a:ext cx="475488" cy="475488"/>
          </a:xfrm>
          <a:prstGeom prst="ellipse">
            <a:avLst/>
          </a:prstGeom>
          <a:solidFill>
            <a:srgbClr val="D0414F"/>
          </a:solidFill>
          <a:ln w="12700">
            <a:solidFill>
              <a:srgbClr val="D041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25912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1847088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D04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الحلقة المكسورة اليوم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487168"/>
            <a:ext cx="47823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3A2F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زمن: </a:t>
            </a:r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3A2F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التصحيح اليدويّ بطيء، فتصل الملاحظة بعد أن ينسى الطالب سياق كتابته</a:t>
            </a:r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3A2F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  <a:p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3A2F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عمق: </a:t>
            </a:r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3A2F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الملاحظة تقول «خطأ» ولا تقول «لماذا»، فلا تُبنى قاعدة في الذهن</a:t>
            </a:r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3A2F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  <a:p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3A2F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تتبّع: </a:t>
            </a:r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3A2F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أحد يعرف أهذا أوّل مرّة أم العاشرة، فلا تُرصد الأنماط</a:t>
            </a:r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3A2F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  <a:p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3A2F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خصوصيّة: </a:t>
            </a:r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3A2F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الأدوات المتاحة ترفع نصّ الطالب إلى خوادم خارجية</a:t>
            </a:r>
            <a:endParaRPr lang="en-US" sz="1350" dirty="0"/>
          </a:p>
        </p:txBody>
      </p:sp>
      <p:sp>
        <p:nvSpPr>
          <p:cNvPr id="9" name="card-fixed"/>
          <p:cNvSpPr/>
          <p:nvPr/>
        </p:nvSpPr>
        <p:spPr>
          <a:xfrm>
            <a:off x="566928" y="1627632"/>
            <a:ext cx="5330952" cy="3749040"/>
          </a:xfrm>
          <a:prstGeom prst="roundRect">
            <a:avLst>
              <a:gd name="adj" fmla="val 2927"/>
            </a:avLst>
          </a:prstGeom>
          <a:solidFill>
            <a:srgbClr val="EFFAF5"/>
          </a:solidFill>
          <a:ln w="12700">
            <a:solidFill>
              <a:srgbClr val="BFE8D7"/>
            </a:solidFill>
            <a:prstDash val="solid"/>
          </a:ln>
        </p:spPr>
      </p:sp>
      <p:sp>
        <p:nvSpPr>
          <p:cNvPr id="10" name="icon-fixed"/>
          <p:cNvSpPr/>
          <p:nvPr/>
        </p:nvSpPr>
        <p:spPr>
          <a:xfrm>
            <a:off x="5148072" y="1828800"/>
            <a:ext cx="475488" cy="475488"/>
          </a:xfrm>
          <a:prstGeom prst="ellipse">
            <a:avLst/>
          </a:prstGeom>
          <a:solidFill>
            <a:srgbClr val="1E9E73"/>
          </a:solidFill>
          <a:ln w="12700">
            <a:solidFill>
              <a:srgbClr val="1E9E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48072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1847088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5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يفعله مُبين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2487168"/>
            <a:ext cx="47823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1F3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فوريّ: </a:t>
            </a:r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F3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التشخيص أثناء الكتابة، في أجزاء من الثانية</a:t>
            </a:r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F3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  <a:p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1F3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مُفسِّر: </a:t>
            </a:r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F3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لكلّ خطأ قاعدته ودرجة ثقته، لا مجرّد تعليم عليه</a:t>
            </a:r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F3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  <a:p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1F3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متتبِّع: </a:t>
            </a:r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F3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بصمة لغوية تُظهر أضعف العائلات والتطوّر عبر الزمن</a:t>
            </a:r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F3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  <a:p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1F3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محليّ: </a:t>
            </a:r>
            <a:pPr algn="r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F3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النصّ لا يغادر الجهاز — قرار تصميميّ لا قيد ميزانية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559552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C98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مُبين تنتقل من «التصحيح» إلى «التشخيص والتفسير»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84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0233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الفكرة في جملة واحدة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27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محرّك عربيّ يقرأ نصّ الطالب، يرصد عشر عائلات من الأخطاء، يشرح القاعدة وراء كلّ خطأ، ويبني بصمة لغوية تتابع تطوّره — ويكافئه على كلّ خطوة يتقدّمها</a:t>
            </a:r>
            <a:endParaRPr lang="en-US" sz="1400" dirty="0"/>
          </a:p>
        </p:txBody>
      </p:sp>
      <p:sp>
        <p:nvSpPr>
          <p:cNvPr id="4" name="feat-0"/>
          <p:cNvSpPr/>
          <p:nvPr/>
        </p:nvSpPr>
        <p:spPr>
          <a:xfrm>
            <a:off x="8138160" y="1755648"/>
            <a:ext cx="345643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feat-ic-0"/>
          <p:cNvSpPr/>
          <p:nvPr/>
        </p:nvSpPr>
        <p:spPr>
          <a:xfrm>
            <a:off x="10881360" y="1993392"/>
            <a:ext cx="493776" cy="493776"/>
          </a:xfrm>
          <a:prstGeom prst="ellipse">
            <a:avLst/>
          </a:prstGeom>
          <a:solidFill>
            <a:srgbClr val="C98F3A"/>
          </a:solidFill>
          <a:ln w="12700">
            <a:solidFill>
              <a:srgbClr val="C98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81360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375904" y="202996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تشخيص لا تصحيح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375904" y="256032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يشرح القاعدة النحوية أو الإملائية وراء كلّ خطأ، مع درجة ثقة</a:t>
            </a:r>
            <a:endParaRPr lang="en-US" sz="1250" dirty="0"/>
          </a:p>
        </p:txBody>
      </p:sp>
      <p:sp>
        <p:nvSpPr>
          <p:cNvPr id="9" name="feat-1"/>
          <p:cNvSpPr/>
          <p:nvPr/>
        </p:nvSpPr>
        <p:spPr>
          <a:xfrm>
            <a:off x="4352544" y="1755648"/>
            <a:ext cx="345643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feat-ic-1"/>
          <p:cNvSpPr/>
          <p:nvPr/>
        </p:nvSpPr>
        <p:spPr>
          <a:xfrm>
            <a:off x="7095744" y="1993392"/>
            <a:ext cx="493776" cy="493776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95744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02996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بصمة لغوية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56032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مهارات تقارن الطالب بنفسه عبر الزمن، لا بزملائه</a:t>
            </a:r>
            <a:endParaRPr lang="en-US" sz="1250" dirty="0"/>
          </a:p>
        </p:txBody>
      </p:sp>
      <p:sp>
        <p:nvSpPr>
          <p:cNvPr id="14" name="feat-2"/>
          <p:cNvSpPr/>
          <p:nvPr/>
        </p:nvSpPr>
        <p:spPr>
          <a:xfrm>
            <a:off x="566928" y="1755648"/>
            <a:ext cx="345643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feat-ic-2"/>
          <p:cNvSpPr/>
          <p:nvPr/>
        </p:nvSpPr>
        <p:spPr>
          <a:xfrm>
            <a:off x="3310128" y="1993392"/>
            <a:ext cx="493776" cy="493776"/>
          </a:xfrm>
          <a:prstGeom prst="ellipse">
            <a:avLst/>
          </a:prstGeom>
          <a:solidFill>
            <a:srgbClr val="1E9E73"/>
          </a:solidFill>
          <a:ln w="12700">
            <a:solidFill>
              <a:srgbClr val="1E9E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1012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202996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تمارين مُولَّدة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256032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تُبنى من أخطاء الطالب نفسه — لا تمرين على ما يتقنه</a:t>
            </a:r>
            <a:endParaRPr lang="en-US" sz="1250" dirty="0"/>
          </a:p>
        </p:txBody>
      </p:sp>
      <p:sp>
        <p:nvSpPr>
          <p:cNvPr id="19" name="feat-3"/>
          <p:cNvSpPr/>
          <p:nvPr/>
        </p:nvSpPr>
        <p:spPr>
          <a:xfrm>
            <a:off x="8138160" y="3849624"/>
            <a:ext cx="345643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feat-ic-3"/>
          <p:cNvSpPr/>
          <p:nvPr/>
        </p:nvSpPr>
        <p:spPr>
          <a:xfrm>
            <a:off x="10881360" y="4087368"/>
            <a:ext cx="493776" cy="493776"/>
          </a:xfrm>
          <a:prstGeom prst="ellipse">
            <a:avLst/>
          </a:prstGeom>
          <a:solidFill>
            <a:srgbClr val="7B5FC4"/>
          </a:solidFill>
          <a:ln w="12700">
            <a:solidFill>
              <a:srgbClr val="7B5F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881360" y="40873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375904" y="4123944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جسر الفصحى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8375904" y="4654296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يرصد تسرّب العاميّة ويعطي المقابل الفصيح فوراً</a:t>
            </a:r>
            <a:endParaRPr lang="en-US" sz="1250" dirty="0"/>
          </a:p>
        </p:txBody>
      </p:sp>
      <p:sp>
        <p:nvSpPr>
          <p:cNvPr id="24" name="feat-4"/>
          <p:cNvSpPr/>
          <p:nvPr/>
        </p:nvSpPr>
        <p:spPr>
          <a:xfrm>
            <a:off x="4352544" y="3849624"/>
            <a:ext cx="345643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feat-ic-4"/>
          <p:cNvSpPr/>
          <p:nvPr/>
        </p:nvSpPr>
        <p:spPr>
          <a:xfrm>
            <a:off x="7095744" y="4087368"/>
            <a:ext cx="493776" cy="493776"/>
          </a:xfrm>
          <a:prstGeom prst="ellipse">
            <a:avLst/>
          </a:prstGeom>
          <a:solidFill>
            <a:srgbClr val="B8701F"/>
          </a:solidFill>
          <a:ln w="12700">
            <a:solidFill>
              <a:srgbClr val="B870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95744" y="40873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90288" y="4123944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المعلّم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4654296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حرارية للصفّ وخطّة حصّة مُولَّدة تلقائيّاً</a:t>
            </a:r>
            <a:endParaRPr lang="en-US" sz="1250" dirty="0"/>
          </a:p>
        </p:txBody>
      </p:sp>
      <p:sp>
        <p:nvSpPr>
          <p:cNvPr id="29" name="feat-5"/>
          <p:cNvSpPr/>
          <p:nvPr/>
        </p:nvSpPr>
        <p:spPr>
          <a:xfrm>
            <a:off x="566928" y="3849624"/>
            <a:ext cx="345643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feat-ic-5"/>
          <p:cNvSpPr/>
          <p:nvPr/>
        </p:nvSpPr>
        <p:spPr>
          <a:xfrm>
            <a:off x="3310128" y="4087368"/>
            <a:ext cx="493776" cy="493776"/>
          </a:xfrm>
          <a:prstGeom prst="ellipse">
            <a:avLst/>
          </a:prstGeom>
          <a:solidFill>
            <a:srgbClr val="D0414F"/>
          </a:solidFill>
          <a:ln w="12700">
            <a:solidFill>
              <a:srgbClr val="D041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10128" y="40873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04672" y="4123944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مكافآت وشهادات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804672" y="4654296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نقاط ومراتب وأوسمة وشهادات رقميّة قابلة للمشاركة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84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0233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كيف يعمل المحرّك — أربع خطوات</a:t>
            </a:r>
            <a:endParaRPr lang="en-US" sz="3000" dirty="0"/>
          </a:p>
        </p:txBody>
      </p:sp>
      <p:sp>
        <p:nvSpPr>
          <p:cNvPr id="3" name="step-0"/>
          <p:cNvSpPr/>
          <p:nvPr/>
        </p:nvSpPr>
        <p:spPr>
          <a:xfrm>
            <a:off x="9043416" y="1536192"/>
            <a:ext cx="255117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tep-ic-0"/>
          <p:cNvSpPr/>
          <p:nvPr/>
        </p:nvSpPr>
        <p:spPr>
          <a:xfrm>
            <a:off x="10899648" y="1755648"/>
            <a:ext cx="457200" cy="457200"/>
          </a:xfrm>
          <a:prstGeom prst="ellipse">
            <a:avLst/>
          </a:prstGeom>
          <a:solidFill>
            <a:srgbClr val="C98F3A"/>
          </a:solidFill>
          <a:ln w="12700">
            <a:solidFill>
              <a:srgbClr val="C98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9964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244584" y="178308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التقطيع والتجريد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244584" y="2331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يُقسَم النصّ إلى كلمات وتُجرَّد من التشكيل والتطويل لتُطابَق على بنوك القواعد</a:t>
            </a:r>
            <a:endParaRPr lang="en-US" sz="1200" dirty="0"/>
          </a:p>
        </p:txBody>
      </p:sp>
      <p:sp>
        <p:nvSpPr>
          <p:cNvPr id="8" name="step-1"/>
          <p:cNvSpPr/>
          <p:nvPr/>
        </p:nvSpPr>
        <p:spPr>
          <a:xfrm>
            <a:off x="6217920" y="1536192"/>
            <a:ext cx="255117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tep-ic-1"/>
          <p:cNvSpPr/>
          <p:nvPr/>
        </p:nvSpPr>
        <p:spPr>
          <a:xfrm>
            <a:off x="8074152" y="1755648"/>
            <a:ext cx="457200" cy="457200"/>
          </a:xfrm>
          <a:prstGeom prst="ellipse">
            <a:avLst/>
          </a:prstGeom>
          <a:solidFill>
            <a:srgbClr val="C98F3A"/>
          </a:solidFill>
          <a:ln w="12700">
            <a:solidFill>
              <a:srgbClr val="C98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7415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178308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المطابقة على القواعد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2331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٥٠٤ مدخلاً في عشرة بنوك: همزة، تاء، ألف لينة، ضاد وظاء، إملاء، عاميّة…</a:t>
            </a:r>
            <a:endParaRPr lang="en-US" sz="1200" dirty="0"/>
          </a:p>
        </p:txBody>
      </p:sp>
      <p:sp>
        <p:nvSpPr>
          <p:cNvPr id="13" name="step-2"/>
          <p:cNvSpPr/>
          <p:nvPr/>
        </p:nvSpPr>
        <p:spPr>
          <a:xfrm>
            <a:off x="3392424" y="1536192"/>
            <a:ext cx="255117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tep-ic-2"/>
          <p:cNvSpPr/>
          <p:nvPr/>
        </p:nvSpPr>
        <p:spPr>
          <a:xfrm>
            <a:off x="5248656" y="1755648"/>
            <a:ext cx="457200" cy="457200"/>
          </a:xfrm>
          <a:prstGeom prst="ellipse">
            <a:avLst/>
          </a:prstGeom>
          <a:solidFill>
            <a:srgbClr val="C98F3A"/>
          </a:solidFill>
          <a:ln w="12700">
            <a:solidFill>
              <a:srgbClr val="C98F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48656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178308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الاستدلال السياقيّ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93592" y="2331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تنظر إلى ما قبل الكلمة وما بعدها: جرّ جمع المذكّر، نصب إنّ، جزم الأفعال الخمسة</a:t>
            </a:r>
            <a:endParaRPr lang="en-US" sz="1200" dirty="0"/>
          </a:p>
        </p:txBody>
      </p:sp>
      <p:sp>
        <p:nvSpPr>
          <p:cNvPr id="18" name="step-3"/>
          <p:cNvSpPr/>
          <p:nvPr/>
        </p:nvSpPr>
        <p:spPr>
          <a:xfrm>
            <a:off x="566928" y="1536192"/>
            <a:ext cx="255117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tep-ic-3"/>
          <p:cNvSpPr/>
          <p:nvPr/>
        </p:nvSpPr>
        <p:spPr>
          <a:xfrm>
            <a:off x="2423160" y="1755648"/>
            <a:ext cx="457200" cy="457200"/>
          </a:xfrm>
          <a:prstGeom prst="ellipse">
            <a:avLst/>
          </a:prstGeom>
          <a:solidFill>
            <a:srgbClr val="C98F3A"/>
          </a:solidFill>
          <a:ln w="12700">
            <a:solidFill>
              <a:srgbClr val="C98F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2316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" y="178308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الحساب والبناء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" y="2331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مؤشّر البيان من كثافة الأخطاء الموزونة، ثم البصمة والتمارين وخطّة الحصّة</a:t>
            </a:r>
            <a:endParaRPr lang="en-US" sz="1200" dirty="0"/>
          </a:p>
        </p:txBody>
      </p:sp>
      <p:sp>
        <p:nvSpPr>
          <p:cNvPr id="23" name="measured"/>
          <p:cNvSpPr/>
          <p:nvPr/>
        </p:nvSpPr>
        <p:spPr>
          <a:xfrm>
            <a:off x="566928" y="4114800"/>
            <a:ext cx="11027664" cy="1371600"/>
          </a:xfrm>
          <a:prstGeom prst="roundRect">
            <a:avLst>
              <a:gd name="adj" fmla="val 8000"/>
            </a:avLst>
          </a:prstGeom>
          <a:solidFill>
            <a:srgbClr val="F7F3EA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4261104"/>
            <a:ext cx="10479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فعليّ — يُعاد أمام اللجنة بزرّ واحد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700516" y="4645152"/>
            <a:ext cx="2619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98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٢٫٦٢ مللي ث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8700516" y="5193792"/>
            <a:ext cx="2619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لتحليل ١٣٦٠ كلمة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080760" y="4645152"/>
            <a:ext cx="2619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٥١٨٬٤٩٥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6080760" y="5193792"/>
            <a:ext cx="2619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كلمة في الثانية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3461004" y="4645152"/>
            <a:ext cx="2619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صفر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3461004" y="5193792"/>
            <a:ext cx="2619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شبكة أثناء التحليل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41248" y="4645152"/>
            <a:ext cx="2619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B5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صفر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" y="5193792"/>
            <a:ext cx="2619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مكتبة خارجيّة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84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0233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المُحلِّل — كما يراه الطالب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كلّ خطأ مُلوَّن بلون عائلته، واضغط عليه لترى القاعدة والصواب ودرجة الثقة</a:t>
            </a:r>
            <a:endParaRPr lang="en-US" sz="1350" dirty="0"/>
          </a:p>
        </p:txBody>
      </p:sp>
      <p:pic>
        <p:nvPicPr>
          <p:cNvPr id="4" name="Image 0" descr="/tmp/claude-0/-home-user-ghaithsadeq/6e48887d-cf40-5897-840b-3419f77dac61/scratchpad/deckassets/app-analyz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4580" y="1536192"/>
            <a:ext cx="7452360" cy="4370832"/>
          </a:xfrm>
          <a:prstGeom prst="rect">
            <a:avLst/>
          </a:prstGeom>
          <a:effectLst>
            <a:outerShdw sx="100000" sy="100000" kx="0" ky="0" algn="bl" rotWithShape="0" blurRad="203200" dist="38100" dir="5400000">
              <a:srgbClr val="000000">
                <a:alpha val="22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84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2651760"/>
            <a:ext cx="11027664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الجديد في الإصدار 2.0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3703320"/>
            <a:ext cx="11027664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A5A2B0"/>
                </a:solidFill>
              </a:rPr>
              <a:t>نظام المكافآت والشهادات — ولماذا جعلناه شفّافاً بالكامل</a:t>
            </a:r>
            <a:endParaRPr lang="en-US" sz="1600" dirty="0"/>
          </a:p>
        </p:txBody>
      </p:sp>
      <p:sp>
        <p:nvSpPr>
          <p:cNvPr id="4" name="div-dot"/>
          <p:cNvSpPr/>
          <p:nvPr/>
        </p:nvSpPr>
        <p:spPr>
          <a:xfrm>
            <a:off x="10771632" y="2304288"/>
            <a:ext cx="566928" cy="566928"/>
          </a:xfrm>
          <a:prstGeom prst="ellipse">
            <a:avLst/>
          </a:prstGeom>
          <a:solidFill>
            <a:srgbClr val="C98F3A"/>
          </a:solidFill>
          <a:ln w="12700">
            <a:solidFill>
              <a:srgbClr val="C98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71632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🏅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0233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سبع مراتب — من مُستكشِف الحروف إلى فارس البيان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يتدرّج الطالب بنقاط يكسبها بعمل حقيقيّ، وأربع من المراتب تفتح شهادة</a:t>
            </a:r>
            <a:endParaRPr lang="en-US" sz="1350" dirty="0"/>
          </a:p>
        </p:txBody>
      </p:sp>
      <p:sp>
        <p:nvSpPr>
          <p:cNvPr id="4" name="lvl-0"/>
          <p:cNvSpPr/>
          <p:nvPr/>
        </p:nvSpPr>
        <p:spPr>
          <a:xfrm>
            <a:off x="10175966" y="1609344"/>
            <a:ext cx="1418626" cy="2743200"/>
          </a:xfrm>
          <a:prstGeom prst="roundRect">
            <a:avLst>
              <a:gd name="adj" fmla="val 7735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175966" y="1783080"/>
            <a:ext cx="1418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🌱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0249118" y="2340864"/>
            <a:ext cx="12723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مُستكشِف الحروف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230830" y="2926080"/>
            <a:ext cx="1308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E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 نقطة</a:t>
            </a:r>
            <a:endParaRPr lang="en-US" sz="1100" dirty="0"/>
          </a:p>
        </p:txBody>
      </p:sp>
      <p:sp>
        <p:nvSpPr>
          <p:cNvPr id="8" name="lvl-1"/>
          <p:cNvSpPr/>
          <p:nvPr/>
        </p:nvSpPr>
        <p:spPr>
          <a:xfrm>
            <a:off x="8574459" y="1609344"/>
            <a:ext cx="1418626" cy="2743200"/>
          </a:xfrm>
          <a:prstGeom prst="roundRect">
            <a:avLst>
              <a:gd name="adj" fmla="val 7735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574459" y="1783080"/>
            <a:ext cx="1418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✏️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647611" y="2340864"/>
            <a:ext cx="12723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كاتبٌ مُبتدئ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629323" y="2926080"/>
            <a:ext cx="1308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E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١٢٠ نقطة</a:t>
            </a:r>
            <a:endParaRPr lang="en-US" sz="1100" dirty="0"/>
          </a:p>
        </p:txBody>
      </p:sp>
      <p:sp>
        <p:nvSpPr>
          <p:cNvPr id="12" name="lvl-2"/>
          <p:cNvSpPr/>
          <p:nvPr/>
        </p:nvSpPr>
        <p:spPr>
          <a:xfrm>
            <a:off x="6972953" y="1609344"/>
            <a:ext cx="1418626" cy="2743200"/>
          </a:xfrm>
          <a:prstGeom prst="roundRect">
            <a:avLst>
              <a:gd name="adj" fmla="val 7735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972953" y="1783080"/>
            <a:ext cx="1418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🛡️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7046105" y="2340864"/>
            <a:ext cx="12723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ضابطُ الإملاء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027817" y="2926080"/>
            <a:ext cx="1308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C98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٣٢٠ نقطة</a:t>
            </a:r>
            <a:endParaRPr lang="en-US" sz="1100" dirty="0"/>
          </a:p>
        </p:txBody>
      </p:sp>
      <p:sp>
        <p:nvSpPr>
          <p:cNvPr id="16" name="lvl-cert-2"/>
          <p:cNvSpPr/>
          <p:nvPr/>
        </p:nvSpPr>
        <p:spPr>
          <a:xfrm>
            <a:off x="7064393" y="3310128"/>
            <a:ext cx="1235746" cy="694944"/>
          </a:xfrm>
          <a:prstGeom prst="roundRect">
            <a:avLst>
              <a:gd name="adj" fmla="val 10526"/>
            </a:avLst>
          </a:prstGeom>
          <a:solidFill>
            <a:srgbClr val="F7F3EA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64393" y="3401568"/>
            <a:ext cx="12357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شهادة برونزيّة</a:t>
            </a:r>
            <a:endParaRPr lang="en-US" sz="1050" dirty="0"/>
          </a:p>
        </p:txBody>
      </p:sp>
      <p:sp>
        <p:nvSpPr>
          <p:cNvPr id="18" name="lvl-3"/>
          <p:cNvSpPr/>
          <p:nvPr/>
        </p:nvSpPr>
        <p:spPr>
          <a:xfrm>
            <a:off x="5371447" y="1609344"/>
            <a:ext cx="1418626" cy="2743200"/>
          </a:xfrm>
          <a:prstGeom prst="roundRect">
            <a:avLst>
              <a:gd name="adj" fmla="val 7735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371447" y="1783080"/>
            <a:ext cx="1418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⚔️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5444599" y="2340864"/>
            <a:ext cx="12723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حارسُ الضاد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26311" y="2926080"/>
            <a:ext cx="1308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7A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٦٤٠ نقطة</a:t>
            </a:r>
            <a:endParaRPr lang="en-US" sz="1100" dirty="0"/>
          </a:p>
        </p:txBody>
      </p:sp>
      <p:sp>
        <p:nvSpPr>
          <p:cNvPr id="22" name="lvl-cert-3"/>
          <p:cNvSpPr/>
          <p:nvPr/>
        </p:nvSpPr>
        <p:spPr>
          <a:xfrm>
            <a:off x="5462887" y="3310128"/>
            <a:ext cx="1235746" cy="694944"/>
          </a:xfrm>
          <a:prstGeom prst="roundRect">
            <a:avLst>
              <a:gd name="adj" fmla="val 10526"/>
            </a:avLst>
          </a:prstGeom>
          <a:solidFill>
            <a:srgbClr val="F7F3EA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62887" y="3401568"/>
            <a:ext cx="12357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شهادة فضّيّة</a:t>
            </a:r>
            <a:endParaRPr lang="en-US" sz="1050" dirty="0"/>
          </a:p>
        </p:txBody>
      </p:sp>
      <p:sp>
        <p:nvSpPr>
          <p:cNvPr id="24" name="lvl-4"/>
          <p:cNvSpPr/>
          <p:nvPr/>
        </p:nvSpPr>
        <p:spPr>
          <a:xfrm>
            <a:off x="3769941" y="1609344"/>
            <a:ext cx="1418626" cy="2743200"/>
          </a:xfrm>
          <a:prstGeom prst="roundRect">
            <a:avLst>
              <a:gd name="adj" fmla="val 7735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3769941" y="1783080"/>
            <a:ext cx="1418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📐</a:t>
            </a:r>
            <a:endParaRPr lang="en-US" sz="2500" dirty="0"/>
          </a:p>
        </p:txBody>
      </p:sp>
      <p:sp>
        <p:nvSpPr>
          <p:cNvPr id="26" name="Text 24"/>
          <p:cNvSpPr txBox="1"/>
          <p:nvPr/>
        </p:nvSpPr>
        <p:spPr>
          <a:xfrm>
            <a:off x="3843093" y="2340864"/>
            <a:ext cx="12723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نحويٌّ واعد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824805" y="2926080"/>
            <a:ext cx="1308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7B5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١١٠٠ نقطة</a:t>
            </a:r>
            <a:endParaRPr lang="en-US" sz="1100" dirty="0"/>
          </a:p>
        </p:txBody>
      </p:sp>
      <p:sp>
        <p:nvSpPr>
          <p:cNvPr id="28" name="lvl-5"/>
          <p:cNvSpPr/>
          <p:nvPr/>
        </p:nvSpPr>
        <p:spPr>
          <a:xfrm>
            <a:off x="2168434" y="1609344"/>
            <a:ext cx="1418626" cy="2743200"/>
          </a:xfrm>
          <a:prstGeom prst="roundRect">
            <a:avLst>
              <a:gd name="adj" fmla="val 7735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2168434" y="1783080"/>
            <a:ext cx="1418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🏅</a:t>
            </a:r>
            <a:endParaRPr lang="en-US" sz="2500" dirty="0"/>
          </a:p>
        </p:txBody>
      </p:sp>
      <p:sp>
        <p:nvSpPr>
          <p:cNvPr id="30" name="Text 28"/>
          <p:cNvSpPr txBox="1"/>
          <p:nvPr/>
        </p:nvSpPr>
        <p:spPr>
          <a:xfrm>
            <a:off x="2241586" y="2340864"/>
            <a:ext cx="12723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بليغٌ مُتمكِّن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2223298" y="2926080"/>
            <a:ext cx="1308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B87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١٧٠٠ نقطة</a:t>
            </a:r>
            <a:endParaRPr lang="en-US" sz="1100" dirty="0"/>
          </a:p>
        </p:txBody>
      </p:sp>
      <p:sp>
        <p:nvSpPr>
          <p:cNvPr id="32" name="lvl-cert-5"/>
          <p:cNvSpPr/>
          <p:nvPr/>
        </p:nvSpPr>
        <p:spPr>
          <a:xfrm>
            <a:off x="2259874" y="3310128"/>
            <a:ext cx="1235746" cy="694944"/>
          </a:xfrm>
          <a:prstGeom prst="roundRect">
            <a:avLst>
              <a:gd name="adj" fmla="val 10526"/>
            </a:avLst>
          </a:prstGeom>
          <a:solidFill>
            <a:srgbClr val="F7F3EA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259874" y="3401568"/>
            <a:ext cx="12357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شهادة ذهبيّة</a:t>
            </a:r>
            <a:endParaRPr lang="en-US" sz="1050" dirty="0"/>
          </a:p>
        </p:txBody>
      </p:sp>
      <p:sp>
        <p:nvSpPr>
          <p:cNvPr id="34" name="lvl-6"/>
          <p:cNvSpPr/>
          <p:nvPr/>
        </p:nvSpPr>
        <p:spPr>
          <a:xfrm>
            <a:off x="566928" y="1609344"/>
            <a:ext cx="1418626" cy="2743200"/>
          </a:xfrm>
          <a:prstGeom prst="roundRect">
            <a:avLst>
              <a:gd name="adj" fmla="val 7735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66928" y="1783080"/>
            <a:ext cx="1418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👑</a:t>
            </a:r>
            <a:endParaRPr lang="en-US" sz="25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2340864"/>
            <a:ext cx="12723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فارسُ البيان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21792" y="2926080"/>
            <a:ext cx="1308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٢٥٠٠ نقطة</a:t>
            </a:r>
            <a:endParaRPr lang="en-US" sz="1100" dirty="0"/>
          </a:p>
        </p:txBody>
      </p:sp>
      <p:sp>
        <p:nvSpPr>
          <p:cNvPr id="38" name="lvl-cert-6"/>
          <p:cNvSpPr/>
          <p:nvPr/>
        </p:nvSpPr>
        <p:spPr>
          <a:xfrm>
            <a:off x="658368" y="3310128"/>
            <a:ext cx="1235746" cy="694944"/>
          </a:xfrm>
          <a:prstGeom prst="roundRect">
            <a:avLst>
              <a:gd name="adj" fmla="val 10526"/>
            </a:avLst>
          </a:prstGeom>
          <a:solidFill>
            <a:srgbClr val="F7F3EA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368" y="3401568"/>
            <a:ext cx="12357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شهادة ماسيّة</a:t>
            </a:r>
            <a:endParaRPr lang="en-US" sz="1050" dirty="0"/>
          </a:p>
        </p:txBody>
      </p:sp>
      <p:sp>
        <p:nvSpPr>
          <p:cNvPr id="40" name="transparency"/>
          <p:cNvSpPr/>
          <p:nvPr/>
        </p:nvSpPr>
        <p:spPr>
          <a:xfrm>
            <a:off x="566928" y="4590288"/>
            <a:ext cx="11027664" cy="896112"/>
          </a:xfrm>
          <a:prstGeom prst="roundRect">
            <a:avLst>
              <a:gd name="adj" fmla="val 12245"/>
            </a:avLst>
          </a:prstGeom>
          <a:solidFill>
            <a:srgbClr val="EFFAF5"/>
          </a:solidFill>
          <a:ln w="12700">
            <a:solidFill>
              <a:srgbClr val="BFE8D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41248" y="4754880"/>
            <a:ext cx="10479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5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شفافيّة: </a:t>
            </a:r>
            <a:pPr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3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احتساب النقاط معروض كاملاً داخل التطبيق — لا نقاط مجّانيّة ولا أرقام مزخرفة. والوسام المغلق يُظهر شرطه وتقدّم الطالب نحوه، فلا شيء مخفيّ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84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0233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النقاط والأوسمة — المحفّز مربوط بالتعلّم</a:t>
            </a:r>
            <a:endParaRPr lang="en-US" sz="3000" dirty="0"/>
          </a:p>
        </p:txBody>
      </p:sp>
      <p:sp>
        <p:nvSpPr>
          <p:cNvPr id="3" name="xp-card"/>
          <p:cNvSpPr/>
          <p:nvPr/>
        </p:nvSpPr>
        <p:spPr>
          <a:xfrm>
            <a:off x="6263640" y="1371600"/>
            <a:ext cx="5330952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537960" y="1536192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C98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تُكسَب النقطة</a:t>
            </a:r>
            <a:endParaRPr lang="en-US" sz="1600" dirty="0"/>
          </a:p>
        </p:txBody>
      </p:sp>
      <p:sp>
        <p:nvSpPr>
          <p:cNvPr id="5" name="xp-row-0"/>
          <p:cNvSpPr/>
          <p:nvPr/>
        </p:nvSpPr>
        <p:spPr>
          <a:xfrm>
            <a:off x="6464808" y="1975104"/>
            <a:ext cx="4928616" cy="402336"/>
          </a:xfrm>
          <a:prstGeom prst="rect">
            <a:avLst/>
          </a:prstGeom>
          <a:solidFill>
            <a:srgbClr val="FAF8F3"/>
          </a:solidFill>
          <a:ln w="12700">
            <a:solidFill>
              <a:srgbClr val="FAF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56248" y="2011680"/>
            <a:ext cx="4142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A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إجابة صحيحة في التدريب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201168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87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+١٠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556248" y="2432304"/>
            <a:ext cx="4142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A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مضاعف السلسلة (لكلّ إجابة متتالية)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3230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87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+٢</a:t>
            </a:r>
            <a:endParaRPr lang="en-US" sz="1250" dirty="0"/>
          </a:p>
        </p:txBody>
      </p:sp>
      <p:sp>
        <p:nvSpPr>
          <p:cNvPr id="10" name="xp-row-2"/>
          <p:cNvSpPr/>
          <p:nvPr/>
        </p:nvSpPr>
        <p:spPr>
          <a:xfrm>
            <a:off x="6464808" y="2816352"/>
            <a:ext cx="4928616" cy="402336"/>
          </a:xfrm>
          <a:prstGeom prst="rect">
            <a:avLst/>
          </a:prstGeom>
          <a:solidFill>
            <a:srgbClr val="FAF8F3"/>
          </a:solidFill>
          <a:ln w="12700">
            <a:solidFill>
              <a:srgbClr val="FAF8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6248" y="2852928"/>
            <a:ext cx="4142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A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إكمال جولة تدريب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85292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87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+٢٥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56248" y="3273552"/>
            <a:ext cx="4142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A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جولة كاملة بلا خطأ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27355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87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+٤٠</a:t>
            </a:r>
            <a:endParaRPr lang="en-US" sz="1250" dirty="0"/>
          </a:p>
        </p:txBody>
      </p:sp>
      <p:sp>
        <p:nvSpPr>
          <p:cNvPr id="15" name="xp-row-4"/>
          <p:cNvSpPr/>
          <p:nvPr/>
        </p:nvSpPr>
        <p:spPr>
          <a:xfrm>
            <a:off x="6464808" y="3657600"/>
            <a:ext cx="4928616" cy="402336"/>
          </a:xfrm>
          <a:prstGeom prst="rect">
            <a:avLst/>
          </a:prstGeom>
          <a:solidFill>
            <a:srgbClr val="FAF8F3"/>
          </a:solidFill>
          <a:ln w="12700">
            <a:solidFill>
              <a:srgbClr val="FAF8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56248" y="3694176"/>
            <a:ext cx="4142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A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تشخيص نصّ (١٢ كلمة فأكثر)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69417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87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+٥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56248" y="4114800"/>
            <a:ext cx="4142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A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نصّ بلا ملاحظة واحدة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11480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87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+٢٠</a:t>
            </a:r>
            <a:endParaRPr lang="en-US" sz="1250" dirty="0"/>
          </a:p>
        </p:txBody>
      </p:sp>
      <p:sp>
        <p:nvSpPr>
          <p:cNvPr id="20" name="xp-row-6"/>
          <p:cNvSpPr/>
          <p:nvPr/>
        </p:nvSpPr>
        <p:spPr>
          <a:xfrm>
            <a:off x="6464808" y="4498848"/>
            <a:ext cx="4928616" cy="402336"/>
          </a:xfrm>
          <a:prstGeom prst="rect">
            <a:avLst/>
          </a:prstGeom>
          <a:solidFill>
            <a:srgbClr val="FAF8F3"/>
          </a:solidFill>
          <a:ln w="12700">
            <a:solidFill>
              <a:srgbClr val="FAF8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56248" y="4535424"/>
            <a:ext cx="4142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A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عامّيّة إلى فصحى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53542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87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+٨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556248" y="4956048"/>
            <a:ext cx="4142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A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 جديد في السلسلة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495604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87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+١٥</a:t>
            </a:r>
            <a:endParaRPr lang="en-US" sz="1250" dirty="0"/>
          </a:p>
        </p:txBody>
      </p:sp>
      <p:sp>
        <p:nvSpPr>
          <p:cNvPr id="25" name="badge-card"/>
          <p:cNvSpPr/>
          <p:nvPr/>
        </p:nvSpPr>
        <p:spPr>
          <a:xfrm>
            <a:off x="566928" y="1371600"/>
            <a:ext cx="5330952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41248" y="1536192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7B5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 وساماً بشروط معلنة</a:t>
            </a:r>
            <a:endParaRPr lang="en-US" sz="1600" dirty="0"/>
          </a:p>
        </p:txBody>
      </p:sp>
      <p:sp>
        <p:nvSpPr>
          <p:cNvPr id="27" name="badge-ic-0"/>
          <p:cNvSpPr/>
          <p:nvPr/>
        </p:nvSpPr>
        <p:spPr>
          <a:xfrm>
            <a:off x="5239512" y="2020824"/>
            <a:ext cx="310896" cy="310896"/>
          </a:xfrm>
          <a:prstGeom prst="ellipse">
            <a:avLst/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39512" y="2020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611880" y="20116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البداية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" y="201168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7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أوّل نصّ تُشخّصه</a:t>
            </a:r>
            <a:endParaRPr lang="en-US" sz="1100" dirty="0"/>
          </a:p>
        </p:txBody>
      </p:sp>
      <p:sp>
        <p:nvSpPr>
          <p:cNvPr id="31" name="badge-ic-1"/>
          <p:cNvSpPr/>
          <p:nvPr/>
        </p:nvSpPr>
        <p:spPr>
          <a:xfrm>
            <a:off x="5239512" y="2441448"/>
            <a:ext cx="310896" cy="310896"/>
          </a:xfrm>
          <a:prstGeom prst="ellipse">
            <a:avLst/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39512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🪶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611880" y="24323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يدٌ نظيفة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41248" y="2432304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7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نصّ بلا ملاحظة واحدة</a:t>
            </a:r>
            <a:endParaRPr lang="en-US" sz="1100" dirty="0"/>
          </a:p>
        </p:txBody>
      </p:sp>
      <p:sp>
        <p:nvSpPr>
          <p:cNvPr id="35" name="badge-ic-2"/>
          <p:cNvSpPr/>
          <p:nvPr/>
        </p:nvSpPr>
        <p:spPr>
          <a:xfrm>
            <a:off x="5239512" y="2862072"/>
            <a:ext cx="310896" cy="310896"/>
          </a:xfrm>
          <a:prstGeom prst="ellipse">
            <a:avLst/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239512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611880" y="28529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سبعةٌ على التوالي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41248" y="2852928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7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سبع إجابات صحيحة متتالية</a:t>
            </a:r>
            <a:endParaRPr lang="en-US" sz="1100" dirty="0"/>
          </a:p>
        </p:txBody>
      </p:sp>
      <p:sp>
        <p:nvSpPr>
          <p:cNvPr id="39" name="badge-ic-3"/>
          <p:cNvSpPr/>
          <p:nvPr/>
        </p:nvSpPr>
        <p:spPr>
          <a:xfrm>
            <a:off x="5239512" y="3282696"/>
            <a:ext cx="310896" cy="310896"/>
          </a:xfrm>
          <a:prstGeom prst="ellipse">
            <a:avLst/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239512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3611880" y="32735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يُقهَر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41248" y="3273552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7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جولة كاملة دون خطأ</a:t>
            </a:r>
            <a:endParaRPr lang="en-US" sz="1100" dirty="0"/>
          </a:p>
        </p:txBody>
      </p:sp>
      <p:sp>
        <p:nvSpPr>
          <p:cNvPr id="43" name="badge-ic-4"/>
          <p:cNvSpPr/>
          <p:nvPr/>
        </p:nvSpPr>
        <p:spPr>
          <a:xfrm>
            <a:off x="5239512" y="3703320"/>
            <a:ext cx="310896" cy="310896"/>
          </a:xfrm>
          <a:prstGeom prst="ellipse">
            <a:avLst/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239512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3611880" y="36941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قاهرُ الضاد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41248" y="3694176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7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عشر إجابات في الضاد والظاء</a:t>
            </a:r>
            <a:endParaRPr lang="en-US" sz="1100" dirty="0"/>
          </a:p>
        </p:txBody>
      </p:sp>
      <p:sp>
        <p:nvSpPr>
          <p:cNvPr id="47" name="badge-ic-5"/>
          <p:cNvSpPr/>
          <p:nvPr/>
        </p:nvSpPr>
        <p:spPr>
          <a:xfrm>
            <a:off x="5239512" y="4123944"/>
            <a:ext cx="310896" cy="310896"/>
          </a:xfrm>
          <a:prstGeom prst="ellipse">
            <a:avLst/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239512" y="4123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🌉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3611880" y="41148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بَنّاءُ الجسر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841248" y="411480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7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خمسة عشر تسرّباً عامّيّاً</a:t>
            </a:r>
            <a:endParaRPr lang="en-US" sz="1100" dirty="0"/>
          </a:p>
        </p:txBody>
      </p:sp>
      <p:sp>
        <p:nvSpPr>
          <p:cNvPr id="51" name="badge-ic-6"/>
          <p:cNvSpPr/>
          <p:nvPr/>
        </p:nvSpPr>
        <p:spPr>
          <a:xfrm>
            <a:off x="5239512" y="4544568"/>
            <a:ext cx="310896" cy="310896"/>
          </a:xfrm>
          <a:prstGeom prst="ellipse">
            <a:avLst/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239512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💯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3611880" y="45354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مِئةُ إصابة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841248" y="4535424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7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مئة إجابة صحيحة</a:t>
            </a:r>
            <a:endParaRPr lang="en-US" sz="1100" dirty="0"/>
          </a:p>
        </p:txBody>
      </p:sp>
      <p:sp>
        <p:nvSpPr>
          <p:cNvPr id="55" name="badge-ic-7"/>
          <p:cNvSpPr/>
          <p:nvPr/>
        </p:nvSpPr>
        <p:spPr>
          <a:xfrm>
            <a:off x="5239512" y="4965192"/>
            <a:ext cx="310896" cy="310896"/>
          </a:xfrm>
          <a:prstGeom prst="ellipse">
            <a:avLst/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239512" y="4965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3611880" y="49560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مُثابِر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841248" y="4956048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7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أيّام متتالية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84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0233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الشهادة الرقميّة — تُرسَم في المتصفّح وتُشارَك</a:t>
            </a:r>
            <a:endParaRPr lang="en-US" sz="3000" dirty="0"/>
          </a:p>
        </p:txBody>
      </p:sp>
      <p:pic>
        <p:nvPicPr>
          <p:cNvPr id="3" name="Image 0" descr="/tmp/claude-0/-home-user-ghaithsadeq/6e48887d-cf40-5897-840b-3419f77dac61/scratchpad/deckassets/certific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6583680" cy="4727448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20000"/>
              </a:srgbClr>
            </a:outerShdw>
          </a:effectLst>
        </p:spPr>
      </p:pic>
      <p:sp>
        <p:nvSpPr>
          <p:cNvPr id="4" name="cert-ic-0"/>
          <p:cNvSpPr/>
          <p:nvPr/>
        </p:nvSpPr>
        <p:spPr>
          <a:xfrm>
            <a:off x="11119104" y="1426464"/>
            <a:ext cx="438912" cy="438912"/>
          </a:xfrm>
          <a:prstGeom prst="ellipse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19104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534656" y="1444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PNG وSVG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534656" y="1773936"/>
            <a:ext cx="3968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 بمقاس ٢٤٠٠×١٧٢٤ بكسل، ونسخة متّجهة للطباعة الكبيرة</a:t>
            </a:r>
            <a:endParaRPr lang="en-US" sz="1150" dirty="0"/>
          </a:p>
        </p:txBody>
      </p:sp>
      <p:sp>
        <p:nvSpPr>
          <p:cNvPr id="8" name="cert-ic-1"/>
          <p:cNvSpPr/>
          <p:nvPr/>
        </p:nvSpPr>
        <p:spPr>
          <a:xfrm>
            <a:off x="11119104" y="2395728"/>
            <a:ext cx="438912" cy="438912"/>
          </a:xfrm>
          <a:prstGeom prst="ellipse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119104" y="2395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534656" y="24140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مشاركة مباشرة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534656" y="2743200"/>
            <a:ext cx="3968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عبر قائمة مشاركة الجهاز مع إرفاق الصورة، أو نسخ نصّ جاهز</a:t>
            </a:r>
            <a:endParaRPr lang="en-US" sz="1150" dirty="0"/>
          </a:p>
        </p:txBody>
      </p:sp>
      <p:sp>
        <p:nvSpPr>
          <p:cNvPr id="12" name="cert-ic-2"/>
          <p:cNvSpPr/>
          <p:nvPr/>
        </p:nvSpPr>
        <p:spPr>
          <a:xfrm>
            <a:off x="11119104" y="3364992"/>
            <a:ext cx="438912" cy="438912"/>
          </a:xfrm>
          <a:prstGeom prst="ellipse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119104" y="3364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534656" y="33832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 تحقّق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534656" y="3712464"/>
            <a:ext cx="3968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مشتقّ حسابيّاً من الاسم والمرتبة والتاريخ — أيّ تغيير يعطي رقماً آخر</a:t>
            </a:r>
            <a:endParaRPr lang="en-US" sz="1150" dirty="0"/>
          </a:p>
        </p:txBody>
      </p:sp>
      <p:sp>
        <p:nvSpPr>
          <p:cNvPr id="16" name="cert-ic-3"/>
          <p:cNvSpPr/>
          <p:nvPr/>
        </p:nvSpPr>
        <p:spPr>
          <a:xfrm>
            <a:off x="11119104" y="4334256"/>
            <a:ext cx="438912" cy="438912"/>
          </a:xfrm>
          <a:prstGeom prst="ellipse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19104" y="4334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🖨️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534656" y="43525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طباعة A4 أفقيّ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7534656" y="4681728"/>
            <a:ext cx="3968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جاهزة لتُعلَّق في الصفّ أو تُرفَق بملفّ إنجاز الطالب</a:t>
            </a:r>
            <a:endParaRPr lang="en-US" sz="1150" dirty="0"/>
          </a:p>
        </p:txBody>
      </p:sp>
      <p:sp>
        <p:nvSpPr>
          <p:cNvPr id="20" name="cert-honest"/>
          <p:cNvSpPr/>
          <p:nvPr/>
        </p:nvSpPr>
        <p:spPr>
          <a:xfrm>
            <a:off x="7534656" y="5394960"/>
            <a:ext cx="4059936" cy="749808"/>
          </a:xfrm>
          <a:prstGeom prst="roundRect">
            <a:avLst>
              <a:gd name="adj" fmla="val 14634"/>
            </a:avLst>
          </a:prstGeom>
          <a:solidFill>
            <a:srgbClr val="FDF1F2"/>
          </a:solidFill>
          <a:ln w="12700">
            <a:solidFill>
              <a:srgbClr val="F0CDD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99248" y="5486400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A83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بصراحة: </a:t>
            </a:r>
            <a:pPr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2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شهادة تقديريّة داخل التطبيق، لا وثيقة رسميّة. قلناها لأنّ الوضوح أبقى من التهويل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84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0233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ما أصلحناه — دقّة المحرّك قبل كلّ ميزة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راجعنا المحرّك بحثاً عن أخطاء تُضعف ثقة الطالب، وأصلحنا كلّ ما وجدناه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263640" y="1572768"/>
          <a:ext cx="5330952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qa-card"/>
          <p:cNvSpPr/>
          <p:nvPr/>
        </p:nvSpPr>
        <p:spPr>
          <a:xfrm>
            <a:off x="566928" y="1572768"/>
            <a:ext cx="533095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DC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737360"/>
            <a:ext cx="4818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2E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 آليّ في متصفّح حقيقيّ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4437126" y="2212848"/>
            <a:ext cx="12047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٤٦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4437126" y="2761488"/>
            <a:ext cx="12047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اختبار ناجحة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232404" y="2212848"/>
            <a:ext cx="12047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3232404" y="2761488"/>
            <a:ext cx="12047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أخطاء JavaScript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2027682" y="2212848"/>
            <a:ext cx="12047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2027682" y="2761488"/>
            <a:ext cx="12047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فُحصت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212848"/>
            <a:ext cx="12047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×١٫٢١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2761488"/>
            <a:ext cx="12047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أسرع في التحليل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291840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7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يُعاد تشغيله بأمر واحد قبل كلّ تسليم  ·  زمن التحليل ٣٫١٧ ← ٢٫٦٢ مللي ثانية لـ١٣٦٠ كلمة</a:t>
            </a:r>
            <a:endParaRPr lang="en-US" sz="1050" dirty="0"/>
          </a:p>
        </p:txBody>
      </p:sp>
      <p:sp>
        <p:nvSpPr>
          <p:cNvPr id="16" name="fix-0"/>
          <p:cNvSpPr/>
          <p:nvPr/>
        </p:nvSpPr>
        <p:spPr>
          <a:xfrm>
            <a:off x="8162544" y="4078224"/>
            <a:ext cx="3432048" cy="1463040"/>
          </a:xfrm>
          <a:prstGeom prst="roundRect">
            <a:avLst>
              <a:gd name="adj" fmla="val 7500"/>
            </a:avLst>
          </a:prstGeom>
          <a:solidFill>
            <a:srgbClr val="F7F3EA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82000" y="4224528"/>
            <a:ext cx="2993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 مدخلات كانت «تُصحِّح» الكلمة إلى نفسها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382000" y="4791456"/>
            <a:ext cx="2993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«انتبه ← انتبه» — خطأ يُفقد الطالب ثقته بالأداة</a:t>
            </a:r>
            <a:endParaRPr lang="en-US" sz="1100" dirty="0"/>
          </a:p>
        </p:txBody>
      </p:sp>
      <p:sp>
        <p:nvSpPr>
          <p:cNvPr id="19" name="fix-1"/>
          <p:cNvSpPr/>
          <p:nvPr/>
        </p:nvSpPr>
        <p:spPr>
          <a:xfrm>
            <a:off x="4364736" y="4078224"/>
            <a:ext cx="3432048" cy="1463040"/>
          </a:xfrm>
          <a:prstGeom prst="roundRect">
            <a:avLst>
              <a:gd name="adj" fmla="val 7500"/>
            </a:avLst>
          </a:prstGeom>
          <a:solidFill>
            <a:srgbClr val="F7F3EA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84192" y="4224528"/>
            <a:ext cx="2993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هاء الضمير لم تعد خطأً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584192" y="4791456"/>
            <a:ext cx="2993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«قرأتُ كتابَه» كان يُرصد خطأً في «كتابة» — ١١ حالة من ١٢</a:t>
            </a:r>
            <a:endParaRPr lang="en-US" sz="1100" dirty="0"/>
          </a:p>
        </p:txBody>
      </p:sp>
      <p:sp>
        <p:nvSpPr>
          <p:cNvPr id="22" name="fix-2"/>
          <p:cNvSpPr/>
          <p:nvPr/>
        </p:nvSpPr>
        <p:spPr>
          <a:xfrm>
            <a:off x="566928" y="4078224"/>
            <a:ext cx="3432048" cy="1463040"/>
          </a:xfrm>
          <a:prstGeom prst="roundRect">
            <a:avLst>
              <a:gd name="adj" fmla="val 7500"/>
            </a:avLst>
          </a:prstGeom>
          <a:solidFill>
            <a:srgbClr val="F7F3EA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86384" y="4224528"/>
            <a:ext cx="2993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تغطية التاء المربوطة الثلاثيّة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786384" y="4791456"/>
            <a:ext cx="2993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«قصه» و«لغه» و«مره» كانت تفوت المحرّك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84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ck-circle"/>
          <p:cNvSpPr/>
          <p:nvPr/>
        </p:nvSpPr>
        <p:spPr>
          <a:xfrm>
            <a:off x="5696712" y="768096"/>
            <a:ext cx="768096" cy="768096"/>
          </a:xfrm>
          <a:prstGeom prst="ellipse">
            <a:avLst/>
          </a:prstGeom>
          <a:solidFill>
            <a:srgbClr val="1E9E73"/>
          </a:solidFill>
          <a:ln w="12700">
            <a:solidFill>
              <a:srgbClr val="1E9E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96712" y="76809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0" y="1700784"/>
            <a:ext cx="1216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نصّ الطالب لا يغادر جهازه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2395728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A5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ليس قيد ميزانية — بل قرار تصميميّ يزيل أكبر عائق مؤسّسيّ أمام استعمال الأداة في المدارس</a:t>
            </a:r>
            <a:endParaRPr lang="en-US" sz="1500" dirty="0"/>
          </a:p>
        </p:txBody>
      </p:sp>
      <p:sp>
        <p:nvSpPr>
          <p:cNvPr id="6" name="priv-0"/>
          <p:cNvSpPr/>
          <p:nvPr/>
        </p:nvSpPr>
        <p:spPr>
          <a:xfrm>
            <a:off x="9043416" y="3054096"/>
            <a:ext cx="2551176" cy="1225296"/>
          </a:xfrm>
          <a:prstGeom prst="roundRect">
            <a:avLst>
              <a:gd name="adj" fmla="val 7463"/>
            </a:avLst>
          </a:prstGeom>
          <a:solidFill>
            <a:srgbClr val="1B1B27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43416" y="3218688"/>
            <a:ext cx="2551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7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صفر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9134856" y="3767328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A5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خادم</a:t>
            </a:r>
            <a:endParaRPr lang="en-US" sz="1150" dirty="0"/>
          </a:p>
        </p:txBody>
      </p:sp>
      <p:sp>
        <p:nvSpPr>
          <p:cNvPr id="9" name="priv-1"/>
          <p:cNvSpPr/>
          <p:nvPr/>
        </p:nvSpPr>
        <p:spPr>
          <a:xfrm>
            <a:off x="6217920" y="3054096"/>
            <a:ext cx="2551176" cy="1225296"/>
          </a:xfrm>
          <a:prstGeom prst="roundRect">
            <a:avLst>
              <a:gd name="adj" fmla="val 7463"/>
            </a:avLst>
          </a:prstGeom>
          <a:solidFill>
            <a:srgbClr val="1B1B27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3218688"/>
            <a:ext cx="2551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7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صفر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3767328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A5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 أو تسجيل</a:t>
            </a:r>
            <a:endParaRPr lang="en-US" sz="1150" dirty="0"/>
          </a:p>
        </p:txBody>
      </p:sp>
      <p:sp>
        <p:nvSpPr>
          <p:cNvPr id="12" name="priv-2"/>
          <p:cNvSpPr/>
          <p:nvPr/>
        </p:nvSpPr>
        <p:spPr>
          <a:xfrm>
            <a:off x="3392424" y="3054096"/>
            <a:ext cx="2551176" cy="1225296"/>
          </a:xfrm>
          <a:prstGeom prst="roundRect">
            <a:avLst>
              <a:gd name="adj" fmla="val 7463"/>
            </a:avLst>
          </a:prstGeom>
          <a:solidFill>
            <a:srgbClr val="1B1B27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92424" y="3218688"/>
            <a:ext cx="2551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7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صفر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3483864" y="3767328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A5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مفتاح واجهة برمجيّة</a:t>
            </a:r>
            <a:endParaRPr lang="en-US" sz="1150" dirty="0"/>
          </a:p>
        </p:txBody>
      </p:sp>
      <p:sp>
        <p:nvSpPr>
          <p:cNvPr id="15" name="priv-3"/>
          <p:cNvSpPr/>
          <p:nvPr/>
        </p:nvSpPr>
        <p:spPr>
          <a:xfrm>
            <a:off x="566928" y="3054096"/>
            <a:ext cx="2551176" cy="1225296"/>
          </a:xfrm>
          <a:prstGeom prst="roundRect">
            <a:avLst>
              <a:gd name="adj" fmla="val 7463"/>
            </a:avLst>
          </a:prstGeom>
          <a:solidFill>
            <a:srgbClr val="1B1B27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3218688"/>
            <a:ext cx="2551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700" b="1" dirty="0">
                <a:solidFill>
                  <a:srgbClr val="5F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صفر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3767328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A5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مكتبة خارجيّة</a:t>
            </a:r>
            <a:endParaRPr lang="en-US" sz="1150" dirty="0"/>
          </a:p>
        </p:txBody>
      </p:sp>
      <p:sp>
        <p:nvSpPr>
          <p:cNvPr id="18" name="limits"/>
          <p:cNvSpPr/>
          <p:nvPr/>
        </p:nvSpPr>
        <p:spPr>
          <a:xfrm>
            <a:off x="566928" y="4535424"/>
            <a:ext cx="11027664" cy="1024128"/>
          </a:xfrm>
          <a:prstGeom prst="roundRect">
            <a:avLst>
              <a:gd name="adj" fmla="val 8929"/>
            </a:avLst>
          </a:prstGeom>
          <a:solidFill>
            <a:srgbClr val="1B1B27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" y="4681728"/>
            <a:ext cx="10442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والحدود كذلك معلنة: </a:t>
            </a:r>
            <a:pPr algn="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5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مُبين يرصد عشر عائلات محدّدة عبر بنوك قواعد مُعلَنة العدد — لا كلّ خطأ ممكن في العربية. وقوله «لا ملاحظات» يعني «لا ملاحظة وفق ما يرصده». وبيانات النموذج تجريبيّة بالكامل: لا اسم طالب حقيقيّ واحد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haithsadeq/mubeen/assets/logos/mubee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603504"/>
            <a:ext cx="768096" cy="7680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1463040"/>
            <a:ext cx="1216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مُبين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0" y="2157984"/>
            <a:ext cx="1216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يُبيِّن لك قاعدة خطئك قبل أن يتكرّر</a:t>
            </a:r>
            <a:endParaRPr lang="en-US" sz="1700" dirty="0"/>
          </a:p>
        </p:txBody>
      </p:sp>
      <p:sp>
        <p:nvSpPr>
          <p:cNvPr id="5" name="ask-0"/>
          <p:cNvSpPr/>
          <p:nvPr/>
        </p:nvSpPr>
        <p:spPr>
          <a:xfrm>
            <a:off x="8125968" y="2743200"/>
            <a:ext cx="3468624" cy="1572768"/>
          </a:xfrm>
          <a:prstGeom prst="roundRect">
            <a:avLst>
              <a:gd name="adj" fmla="val 6977"/>
            </a:avLst>
          </a:prstGeom>
          <a:solidFill>
            <a:srgbClr val="1B1B27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6" name="ask-ic-0"/>
          <p:cNvSpPr/>
          <p:nvPr/>
        </p:nvSpPr>
        <p:spPr>
          <a:xfrm>
            <a:off x="10881360" y="2944368"/>
            <a:ext cx="457200" cy="457200"/>
          </a:xfrm>
          <a:prstGeom prst="ellipse">
            <a:avLst/>
          </a:prstGeom>
          <a:solidFill>
            <a:srgbClr val="2A2A3C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88136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363712" y="2980944"/>
            <a:ext cx="2462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في فصل حقيقيّ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363712" y="3456432"/>
            <a:ext cx="2993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5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صفّ واحد لفصل دراسيّ، لنقيس الأثر بدل أن نفترضه</a:t>
            </a:r>
            <a:endParaRPr lang="en-US" sz="1150" dirty="0"/>
          </a:p>
        </p:txBody>
      </p:sp>
      <p:sp>
        <p:nvSpPr>
          <p:cNvPr id="10" name="ask-1"/>
          <p:cNvSpPr/>
          <p:nvPr/>
        </p:nvSpPr>
        <p:spPr>
          <a:xfrm>
            <a:off x="4346448" y="2743200"/>
            <a:ext cx="3468624" cy="1572768"/>
          </a:xfrm>
          <a:prstGeom prst="roundRect">
            <a:avLst>
              <a:gd name="adj" fmla="val 6977"/>
            </a:avLst>
          </a:prstGeom>
          <a:solidFill>
            <a:srgbClr val="1B1B27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1" name="ask-ic-1"/>
          <p:cNvSpPr/>
          <p:nvPr/>
        </p:nvSpPr>
        <p:spPr>
          <a:xfrm>
            <a:off x="7101840" y="2944368"/>
            <a:ext cx="457200" cy="457200"/>
          </a:xfrm>
          <a:prstGeom prst="ellipse">
            <a:avLst/>
          </a:prstGeom>
          <a:solidFill>
            <a:srgbClr val="2A2A3C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0184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84192" y="2980944"/>
            <a:ext cx="2462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توسيع بنوك القواعد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84192" y="3456432"/>
            <a:ext cx="2993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5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بمراجعة معلّمي اللغة العربية في المدرسة والمنطقة</a:t>
            </a:r>
            <a:endParaRPr lang="en-US" sz="1150" dirty="0"/>
          </a:p>
        </p:txBody>
      </p:sp>
      <p:sp>
        <p:nvSpPr>
          <p:cNvPr id="15" name="ask-2"/>
          <p:cNvSpPr/>
          <p:nvPr/>
        </p:nvSpPr>
        <p:spPr>
          <a:xfrm>
            <a:off x="566928" y="2743200"/>
            <a:ext cx="3468624" cy="1572768"/>
          </a:xfrm>
          <a:prstGeom prst="roundRect">
            <a:avLst>
              <a:gd name="adj" fmla="val 6977"/>
            </a:avLst>
          </a:prstGeom>
          <a:solidFill>
            <a:srgbClr val="1B1B27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6" name="ask-ic-2"/>
          <p:cNvSpPr/>
          <p:nvPr/>
        </p:nvSpPr>
        <p:spPr>
          <a:xfrm>
            <a:off x="3322320" y="2944368"/>
            <a:ext cx="457200" cy="457200"/>
          </a:xfrm>
          <a:prstGeom prst="ellipse">
            <a:avLst/>
          </a:prstGeom>
          <a:solidFill>
            <a:srgbClr val="2A2A3C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2232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" y="2980944"/>
            <a:ext cx="2462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شراكة مع الهيئة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804672" y="3456432"/>
            <a:ext cx="2993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5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لنشر الأداة على مدارس الشارقة الخاصة مجّاناً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0" y="4626864"/>
            <a:ext cx="1216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CODE TEAM  ·  غيث صادق  ·  أحمد حمد  ·  تيم عامر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0" y="4956048"/>
            <a:ext cx="1216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A5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مدرسة السدرة الخاصة — كلباء، إمارة الشارقة</a:t>
            </a:r>
            <a:endParaRPr lang="en-US" sz="1200" dirty="0"/>
          </a:p>
        </p:txBody>
      </p:sp>
      <p:sp>
        <p:nvSpPr>
          <p:cNvPr id="22" name="school-logo-bg"/>
          <p:cNvSpPr/>
          <p:nvPr/>
        </p:nvSpPr>
        <p:spPr>
          <a:xfrm>
            <a:off x="5303520" y="5358384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1" descr="/home/user/ghaithsadeq/mubeen/assets/logos/alsedra-school-whi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85816" y="5440680"/>
            <a:ext cx="1389888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ubeen">
  <a:themeElements>
    <a:clrScheme name="Mubeen">
      <a:dk1>
        <a:srgbClr val="13131C"/>
      </a:dk1>
      <a:lt1>
        <a:srgbClr val="FFFFFF"/>
      </a:lt1>
      <a:dk2>
        <a:srgbClr val="1B1B27"/>
      </a:dk2>
      <a:lt2>
        <a:srgbClr val="F7F3EA"/>
      </a:lt2>
      <a:accent1>
        <a:srgbClr val="C98F3A"/>
      </a:accent1>
      <a:accent2>
        <a:srgbClr val="7B5FC4"/>
      </a:accent2>
      <a:accent3>
        <a:srgbClr val="1E9E73"/>
      </a:accent3>
      <a:accent4>
        <a:srgbClr val="D0414F"/>
      </a:accent4>
      <a:accent5>
        <a:srgbClr val="2E7FB8"/>
      </a:accent5>
      <a:accent6>
        <a:srgbClr val="B8701F"/>
      </a:accent6>
      <a:hlink>
        <a:srgbClr val="7B5FC4"/>
      </a:hlink>
      <a:folHlink>
        <a:srgbClr val="7B5FC4"/>
      </a:folHlink>
    </a:clrScheme>
    <a:fontScheme name="Mubee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Alsedra Private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مُبين — محرّك العربية التشخيصي</dc:title>
  <dc:subject>PptxGenJS Presentation</dc:subject>
  <dc:creator>GEN CODE TEAM</dc:creator>
  <cp:lastModifiedBy>GEN CODE TEAM</cp:lastModifiedBy>
  <cp:revision>1</cp:revision>
  <dcterms:created xsi:type="dcterms:W3CDTF">2026-10-08T14:30:01Z</dcterms:created>
  <dcterms:modified xsi:type="dcterms:W3CDTF">2026-10-08T14:30:01Z</dcterms:modified>
</cp:coreProperties>
</file>